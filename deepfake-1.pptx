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67" r:id="rId4"/>
    <p:sldId id="268" r:id="rId5"/>
    <p:sldId id="262" r:id="rId6"/>
    <p:sldId id="263" r:id="rId7"/>
    <p:sldId id="264" r:id="rId8"/>
    <p:sldId id="265" r:id="rId9"/>
    <p:sldId id="269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350" autoAdjust="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A1D8C-6F91-4B6A-8F7D-C2031752C6A9}" type="datetimeFigureOut">
              <a:rPr lang="en-IN" smtClean="0"/>
              <a:pPr/>
              <a:t>19-03-2025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F8DC3-674C-4403-8ADB-73C7766D7CA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310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F8DC3-674C-4403-8ADB-73C7766D7CA8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965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4E5E-2C04-90DC-4AED-551259F7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6B0B4-3B1C-72F7-FC7F-F686FCC9E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D192F-07DF-8968-4D2F-6DB9F87A7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5D745-1B63-7CBC-72D6-F750F03D8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F8DC3-674C-4403-8ADB-73C7766D7CA8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662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6A49-F807-599D-D0A2-2A30EE065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F48B4-CB85-4076-868A-BBB638B2E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CE4B8-A10A-18BA-0C42-CF31E995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F228-F870-48CC-8D73-49B0CD122330}" type="datetimeFigureOut">
              <a:rPr lang="en-IN" smtClean="0"/>
              <a:pPr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F1DD0-DB94-EA6B-38BD-98BB9D8DB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139EE-97B0-C555-A5CC-278B252B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8855E-2B02-44CD-9EE5-212C7A458F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86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F6B6-341A-3BDF-8D68-88E2219B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D7496-05EA-BC27-A506-E832D9E95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5DC2F-4A69-0DCE-AF64-65C144B60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F228-F870-48CC-8D73-49B0CD122330}" type="datetimeFigureOut">
              <a:rPr lang="en-IN" smtClean="0"/>
              <a:pPr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E372B-A525-B4E9-FD25-014FBA1B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A9BB5-8224-8F4B-21EE-DEDF66BF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8855E-2B02-44CD-9EE5-212C7A458F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442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8024-45FF-A3EB-CCA6-C1D599D0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B2400-2CC0-527D-3472-1C697ED7E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0DC92-8215-12D7-A4C1-7473D45F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F228-F870-48CC-8D73-49B0CD122330}" type="datetimeFigureOut">
              <a:rPr lang="en-IN" smtClean="0"/>
              <a:pPr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90B3E-794F-880E-A459-D010BB76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7CB32-D4F3-570B-026B-EE0ACE6AC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8855E-2B02-44CD-9EE5-212C7A458F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30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420E-171E-E53E-D678-489DBE75F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0DAA-2B0A-132C-FB7F-2A0404E64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6F54C-1852-B201-8852-4DB0515D7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914DA-EBE5-772A-3145-1124B29D6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F228-F870-48CC-8D73-49B0CD122330}" type="datetimeFigureOut">
              <a:rPr lang="en-IN" smtClean="0"/>
              <a:pPr/>
              <a:t>19-03-2025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F0590-2D7B-E3C9-C331-5565EAA06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5D0E4-6167-D30A-D4EA-4BA78687A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8855E-2B02-44CD-9EE5-212C7A458F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836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A534-A4ED-6E63-EC40-DA329595F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0DE00-AFCE-9DC6-30CD-CE6776418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D6116-2453-69BB-9B43-8048A3798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69BF89-FEF0-B185-973F-D95C6737B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78C4-283B-3E51-7F87-6A1C7686A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53831-EC6D-C309-89F7-8AD97073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F228-F870-48CC-8D73-49B0CD122330}" type="datetimeFigureOut">
              <a:rPr lang="en-IN" smtClean="0"/>
              <a:pPr/>
              <a:t>19-03-2025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2FE95-A6C9-A7E8-AB8B-85FAFE588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E6FC10-9EC9-BE58-A3FB-ADFD872B4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8855E-2B02-44CD-9EE5-212C7A458F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594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6058-209E-3CC1-6B29-AC410DEF1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9F461-5905-C1EC-52C9-4804BD859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F228-F870-48CC-8D73-49B0CD122330}" type="datetimeFigureOut">
              <a:rPr lang="en-IN" smtClean="0"/>
              <a:pPr/>
              <a:t>19-03-2025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6CEC4-A3D3-F6D1-3A99-1429DBDE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B22A8-4F0C-BB62-9146-19A63E07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8855E-2B02-44CD-9EE5-212C7A458F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85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078C96-B871-0184-686B-37963A27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F228-F870-48CC-8D73-49B0CD122330}" type="datetimeFigureOut">
              <a:rPr lang="en-IN" smtClean="0"/>
              <a:pPr/>
              <a:t>19-03-2025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95C34-CE99-2791-1E35-121340894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506D4-504C-D560-CE9C-9EF59493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8855E-2B02-44CD-9EE5-212C7A458F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557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18D8F-5AC9-0910-7E4E-2FC3B9C0B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BC97A-3A14-823B-F989-D83A7FC76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F0446-DEE7-6BCC-AB29-BF67F1FDB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64766-EEE0-3B08-EC48-E99C8CB90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F228-F870-48CC-8D73-49B0CD122330}" type="datetimeFigureOut">
              <a:rPr lang="en-IN" smtClean="0"/>
              <a:pPr/>
              <a:t>19-03-2025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4311E-F150-DA95-A90D-A4990B493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CDE84-0217-8402-18CC-28B39FB57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8855E-2B02-44CD-9EE5-212C7A458F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276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C948-D110-7BD0-EFF9-B2D3FD36F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346CCD-23D3-37C0-03B9-CB1232B032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672E8-00D3-C364-B500-8ED050B4F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E515D-2E69-9797-841E-B4674624B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F228-F870-48CC-8D73-49B0CD122330}" type="datetimeFigureOut">
              <a:rPr lang="en-IN" smtClean="0"/>
              <a:pPr/>
              <a:t>19-03-2025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3F7F1-B645-1DDC-FC8C-A6A166CD5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40EB3-2A5B-91D8-1200-BAD94030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8855E-2B02-44CD-9EE5-212C7A458F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48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E4794-7B69-4B9E-CD26-BA6036AD4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E39C2A-CFB9-656F-A424-61303804F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7AAFC-9A3A-A6DE-9D48-E49B7719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F228-F870-48CC-8D73-49B0CD122330}" type="datetimeFigureOut">
              <a:rPr lang="en-IN" smtClean="0"/>
              <a:pPr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A3E9-0CEB-E5D0-8411-6801C9629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2842F-8334-0A99-2577-642BFB472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8855E-2B02-44CD-9EE5-212C7A458F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31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1AFF84-90DE-0469-A2A5-40C6040C8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9A106-334D-CE01-97E4-D0A80F0CC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A3CD2-FB6A-A834-0988-277E39FC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F228-F870-48CC-8D73-49B0CD122330}" type="datetimeFigureOut">
              <a:rPr lang="en-IN" smtClean="0"/>
              <a:pPr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EB128-9151-4A11-B428-313E99388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E6C35-93A2-BB5E-A0D8-43AFB2A26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8855E-2B02-44CD-9EE5-212C7A458F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939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67D998-1F5D-EACE-759C-BD5C0F15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C182E-1457-EC08-0713-A4E97189C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6C86F-533C-2C20-6605-7E8F2E1464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5F228-F870-48CC-8D73-49B0CD122330}" type="datetimeFigureOut">
              <a:rPr lang="en-IN" smtClean="0"/>
              <a:pPr/>
              <a:t>19-03-2025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090B1-F759-6488-68B5-89E90B083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477EF-F000-2B2A-2CCA-766E9E74B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8855E-2B02-44CD-9EE5-212C7A458F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157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IRJET-V11I3118.pdf" TargetMode="External"/><Relationship Id="rId7" Type="http://schemas.openxmlformats.org/officeDocument/2006/relationships/hyperlink" Target="deeplerning2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deeplerning.pdf" TargetMode="External"/><Relationship Id="rId5" Type="http://schemas.openxmlformats.org/officeDocument/2006/relationships/hyperlink" Target="IJSET_V11_issue6_571.pdf" TargetMode="External"/><Relationship Id="rId4" Type="http://schemas.openxmlformats.org/officeDocument/2006/relationships/hyperlink" Target="Shahzaib1.pdf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9A3A035-DDA2-FB0E-4248-547B03F84519}"/>
              </a:ext>
            </a:extLst>
          </p:cNvPr>
          <p:cNvGrpSpPr/>
          <p:nvPr/>
        </p:nvGrpSpPr>
        <p:grpSpPr>
          <a:xfrm>
            <a:off x="144000" y="117185"/>
            <a:ext cx="11933993" cy="6593151"/>
            <a:chOff x="144000" y="136090"/>
            <a:chExt cx="11933993" cy="6593151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3E990C2-E823-0B85-C4E4-07E447BFB0BD}"/>
                </a:ext>
              </a:extLst>
            </p:cNvPr>
            <p:cNvSpPr/>
            <p:nvPr/>
          </p:nvSpPr>
          <p:spPr>
            <a:xfrm>
              <a:off x="144000" y="136090"/>
              <a:ext cx="465600" cy="6570001"/>
            </a:xfrm>
            <a:custGeom>
              <a:avLst/>
              <a:gdLst>
                <a:gd name="connsiteX0" fmla="*/ 0 w 465600"/>
                <a:gd name="connsiteY0" fmla="*/ 0 h 6570001"/>
                <a:gd name="connsiteX1" fmla="*/ 465600 w 465600"/>
                <a:gd name="connsiteY1" fmla="*/ 0 h 6570001"/>
                <a:gd name="connsiteX2" fmla="*/ 465600 w 465600"/>
                <a:gd name="connsiteY2" fmla="*/ 6104399 h 6570001"/>
                <a:gd name="connsiteX3" fmla="*/ 465599 w 465600"/>
                <a:gd name="connsiteY3" fmla="*/ 6104399 h 6570001"/>
                <a:gd name="connsiteX4" fmla="*/ 1 w 465600"/>
                <a:gd name="connsiteY4" fmla="*/ 6570001 h 6570001"/>
                <a:gd name="connsiteX5" fmla="*/ 1 w 465600"/>
                <a:gd name="connsiteY5" fmla="*/ 6104399 h 6570001"/>
                <a:gd name="connsiteX6" fmla="*/ 0 w 465600"/>
                <a:gd name="connsiteY6" fmla="*/ 6104399 h 657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0" h="6570001">
                  <a:moveTo>
                    <a:pt x="0" y="0"/>
                  </a:moveTo>
                  <a:lnTo>
                    <a:pt x="465600" y="0"/>
                  </a:lnTo>
                  <a:lnTo>
                    <a:pt x="465600" y="6104399"/>
                  </a:lnTo>
                  <a:lnTo>
                    <a:pt x="465599" y="6104399"/>
                  </a:lnTo>
                  <a:lnTo>
                    <a:pt x="1" y="6570001"/>
                  </a:lnTo>
                  <a:lnTo>
                    <a:pt x="1" y="6104399"/>
                  </a:lnTo>
                  <a:lnTo>
                    <a:pt x="0" y="610439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85000">
                  <a:srgbClr val="F5F5F5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EB9ED79-F6D8-7A13-8672-86E099FE41DF}"/>
                </a:ext>
              </a:extLst>
            </p:cNvPr>
            <p:cNvSpPr/>
            <p:nvPr/>
          </p:nvSpPr>
          <p:spPr>
            <a:xfrm rot="16200000">
              <a:off x="5893191" y="544440"/>
              <a:ext cx="465603" cy="11904000"/>
            </a:xfrm>
            <a:custGeom>
              <a:avLst/>
              <a:gdLst>
                <a:gd name="connsiteX0" fmla="*/ 465601 w 465603"/>
                <a:gd name="connsiteY0" fmla="*/ 465600 h 11904000"/>
                <a:gd name="connsiteX1" fmla="*/ 465600 w 465603"/>
                <a:gd name="connsiteY1" fmla="*/ 11904000 h 11904000"/>
                <a:gd name="connsiteX2" fmla="*/ 0 w 465603"/>
                <a:gd name="connsiteY2" fmla="*/ 11904000 h 11904000"/>
                <a:gd name="connsiteX3" fmla="*/ 0 w 465603"/>
                <a:gd name="connsiteY3" fmla="*/ 465600 h 11904000"/>
                <a:gd name="connsiteX4" fmla="*/ 465603 w 465603"/>
                <a:gd name="connsiteY4" fmla="*/ 465599 h 11904000"/>
                <a:gd name="connsiteX5" fmla="*/ 1 w 465603"/>
                <a:gd name="connsiteY5" fmla="*/ 465599 h 11904000"/>
                <a:gd name="connsiteX6" fmla="*/ 1 w 465603"/>
                <a:gd name="connsiteY6" fmla="*/ 0 h 119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3" h="11904000">
                  <a:moveTo>
                    <a:pt x="465601" y="465600"/>
                  </a:moveTo>
                  <a:lnTo>
                    <a:pt x="465600" y="11904000"/>
                  </a:lnTo>
                  <a:lnTo>
                    <a:pt x="0" y="11904000"/>
                  </a:lnTo>
                  <a:lnTo>
                    <a:pt x="0" y="465600"/>
                  </a:lnTo>
                  <a:close/>
                  <a:moveTo>
                    <a:pt x="465603" y="465599"/>
                  </a:moveTo>
                  <a:lnTo>
                    <a:pt x="1" y="465599"/>
                  </a:lnTo>
                  <a:lnTo>
                    <a:pt x="1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100000">
                  <a:srgbClr val="F5F5F5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4525F12-B83B-4DF6-4F49-588AABC53BDC}"/>
              </a:ext>
            </a:extLst>
          </p:cNvPr>
          <p:cNvSpPr/>
          <p:nvPr/>
        </p:nvSpPr>
        <p:spPr>
          <a:xfrm rot="10800000">
            <a:off x="11612393" y="147664"/>
            <a:ext cx="465600" cy="6570001"/>
          </a:xfrm>
          <a:custGeom>
            <a:avLst/>
            <a:gdLst>
              <a:gd name="connsiteX0" fmla="*/ 0 w 465600"/>
              <a:gd name="connsiteY0" fmla="*/ 0 h 6570001"/>
              <a:gd name="connsiteX1" fmla="*/ 465600 w 465600"/>
              <a:gd name="connsiteY1" fmla="*/ 0 h 6570001"/>
              <a:gd name="connsiteX2" fmla="*/ 465600 w 465600"/>
              <a:gd name="connsiteY2" fmla="*/ 6104399 h 6570001"/>
              <a:gd name="connsiteX3" fmla="*/ 465599 w 465600"/>
              <a:gd name="connsiteY3" fmla="*/ 6104399 h 6570001"/>
              <a:gd name="connsiteX4" fmla="*/ 1 w 465600"/>
              <a:gd name="connsiteY4" fmla="*/ 6570001 h 6570001"/>
              <a:gd name="connsiteX5" fmla="*/ 1 w 465600"/>
              <a:gd name="connsiteY5" fmla="*/ 6104399 h 6570001"/>
              <a:gd name="connsiteX6" fmla="*/ 0 w 465600"/>
              <a:gd name="connsiteY6" fmla="*/ 6104399 h 657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0" h="6570001">
                <a:moveTo>
                  <a:pt x="0" y="0"/>
                </a:moveTo>
                <a:lnTo>
                  <a:pt x="465600" y="0"/>
                </a:lnTo>
                <a:lnTo>
                  <a:pt x="465600" y="6104399"/>
                </a:lnTo>
                <a:lnTo>
                  <a:pt x="465599" y="6104399"/>
                </a:lnTo>
                <a:lnTo>
                  <a:pt x="1" y="6570001"/>
                </a:lnTo>
                <a:lnTo>
                  <a:pt x="1" y="6104399"/>
                </a:lnTo>
                <a:lnTo>
                  <a:pt x="0" y="6104399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85000">
                <a:srgbClr val="F5F5F5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EF72461-8578-85AC-0AE4-35B34DC15687}"/>
              </a:ext>
            </a:extLst>
          </p:cNvPr>
          <p:cNvSpPr/>
          <p:nvPr/>
        </p:nvSpPr>
        <p:spPr>
          <a:xfrm rot="5400000">
            <a:off x="5863199" y="-5594685"/>
            <a:ext cx="465603" cy="11904000"/>
          </a:xfrm>
          <a:custGeom>
            <a:avLst/>
            <a:gdLst>
              <a:gd name="connsiteX0" fmla="*/ 465601 w 465603"/>
              <a:gd name="connsiteY0" fmla="*/ 465600 h 11904000"/>
              <a:gd name="connsiteX1" fmla="*/ 465600 w 465603"/>
              <a:gd name="connsiteY1" fmla="*/ 11904000 h 11904000"/>
              <a:gd name="connsiteX2" fmla="*/ 0 w 465603"/>
              <a:gd name="connsiteY2" fmla="*/ 11904000 h 11904000"/>
              <a:gd name="connsiteX3" fmla="*/ 0 w 465603"/>
              <a:gd name="connsiteY3" fmla="*/ 465600 h 11904000"/>
              <a:gd name="connsiteX4" fmla="*/ 465603 w 465603"/>
              <a:gd name="connsiteY4" fmla="*/ 465599 h 11904000"/>
              <a:gd name="connsiteX5" fmla="*/ 1 w 465603"/>
              <a:gd name="connsiteY5" fmla="*/ 465599 h 11904000"/>
              <a:gd name="connsiteX6" fmla="*/ 1 w 465603"/>
              <a:gd name="connsiteY6" fmla="*/ 0 h 119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3" h="11904000">
                <a:moveTo>
                  <a:pt x="465601" y="465600"/>
                </a:moveTo>
                <a:lnTo>
                  <a:pt x="465600" y="11904000"/>
                </a:lnTo>
                <a:lnTo>
                  <a:pt x="0" y="11904000"/>
                </a:lnTo>
                <a:lnTo>
                  <a:pt x="0" y="465600"/>
                </a:lnTo>
                <a:close/>
                <a:moveTo>
                  <a:pt x="465603" y="465599"/>
                </a:moveTo>
                <a:lnTo>
                  <a:pt x="1" y="465599"/>
                </a:lnTo>
                <a:lnTo>
                  <a:pt x="1" y="0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100000">
                <a:srgbClr val="F5F5F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9460E64D-CF1A-6CE3-A3A5-4B1BC3C42740}"/>
              </a:ext>
            </a:extLst>
          </p:cNvPr>
          <p:cNvSpPr txBox="1"/>
          <p:nvPr/>
        </p:nvSpPr>
        <p:spPr>
          <a:xfrm flipH="1">
            <a:off x="143999" y="535900"/>
            <a:ext cx="495593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4000" dirty="0">
                <a:latin typeface="Times New Roman" panose="02020603050405020304" pitchFamily="18" charset="0"/>
              </a:rPr>
              <a:t>वै</a:t>
            </a:r>
            <a:endParaRPr lang="en-US" sz="4000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मा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नि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का</a:t>
            </a:r>
            <a:r>
              <a:rPr lang="en-US" dirty="0">
                <a:latin typeface="Times New Roman" panose="02020603050405020304" pitchFamily="18" charset="0"/>
              </a:rPr>
              <a:t>: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D3DFD77-AB84-D5F2-A47E-E810B51E5663}"/>
              </a:ext>
            </a:extLst>
          </p:cNvPr>
          <p:cNvSpPr txBox="1"/>
          <p:nvPr/>
        </p:nvSpPr>
        <p:spPr>
          <a:xfrm flipH="1">
            <a:off x="864811" y="6206022"/>
            <a:ext cx="10224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ERONAUTICAL</a:t>
            </a:r>
            <a:r>
              <a:rPr lang="en-US" sz="2000" b="1" spc="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NGINEERING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EPARTMENT,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PCE</a:t>
            </a:r>
            <a:endParaRPr lang="en-IN" sz="2000" b="1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0398CFC7-F330-4257-FFBA-DC51E0D0514E}"/>
              </a:ext>
            </a:extLst>
          </p:cNvPr>
          <p:cNvSpPr txBox="1"/>
          <p:nvPr/>
        </p:nvSpPr>
        <p:spPr>
          <a:xfrm>
            <a:off x="1499128" y="1357371"/>
            <a:ext cx="88153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Powered detection of </a:t>
            </a:r>
            <a:r>
              <a:rPr lang="en-IN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with real time insights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47868F9C-0DE4-2AC7-EE65-3DE6F71D036E}"/>
              </a:ext>
            </a:extLst>
          </p:cNvPr>
          <p:cNvSpPr txBox="1"/>
          <p:nvPr/>
        </p:nvSpPr>
        <p:spPr>
          <a:xfrm>
            <a:off x="2240436" y="4340181"/>
            <a:ext cx="705811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Siddhi Chindhalore, Sanskruti Pote, Shreya Walde and Suchita Pawar 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 Priyadarshini College of Engineering, Nagpur</a:t>
            </a: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BC3BE94-3C42-BFC4-5A1E-9D38A6E511AA}"/>
              </a:ext>
            </a:extLst>
          </p:cNvPr>
          <p:cNvSpPr txBox="1"/>
          <p:nvPr/>
        </p:nvSpPr>
        <p:spPr>
          <a:xfrm>
            <a:off x="983527" y="748448"/>
            <a:ext cx="1022494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Priyadarshini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 Nagpur</a:t>
            </a:r>
          </a:p>
        </p:txBody>
      </p:sp>
      <p:pic>
        <p:nvPicPr>
          <p:cNvPr id="186" name="Picture 185">
            <a:extLst>
              <a:ext uri="{FF2B5EF4-FFF2-40B4-BE49-F238E27FC236}">
                <a16:creationId xmlns:a16="http://schemas.microsoft.com/office/drawing/2014/main" id="{B76F0974-317D-7EE3-C4A7-5850E169AEC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111237" y="6049926"/>
            <a:ext cx="961417" cy="67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50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9A3A035-DDA2-FB0E-4248-547B03F84519}"/>
              </a:ext>
            </a:extLst>
          </p:cNvPr>
          <p:cNvGrpSpPr/>
          <p:nvPr/>
        </p:nvGrpSpPr>
        <p:grpSpPr>
          <a:xfrm>
            <a:off x="144000" y="117185"/>
            <a:ext cx="11933993" cy="6593151"/>
            <a:chOff x="144000" y="136090"/>
            <a:chExt cx="11933993" cy="6593151"/>
          </a:xfrm>
        </p:grpSpPr>
        <p:sp>
          <p:nvSpPr>
            <p:cNvPr id="3" name="Freeform: Shape 26">
              <a:extLst>
                <a:ext uri="{FF2B5EF4-FFF2-40B4-BE49-F238E27FC236}">
                  <a16:creationId xmlns:a16="http://schemas.microsoft.com/office/drawing/2014/main" id="{F3E990C2-E823-0B85-C4E4-07E447BFB0BD}"/>
                </a:ext>
              </a:extLst>
            </p:cNvPr>
            <p:cNvSpPr/>
            <p:nvPr/>
          </p:nvSpPr>
          <p:spPr>
            <a:xfrm>
              <a:off x="144000" y="136090"/>
              <a:ext cx="465600" cy="6570001"/>
            </a:xfrm>
            <a:custGeom>
              <a:avLst/>
              <a:gdLst>
                <a:gd name="connsiteX0" fmla="*/ 0 w 465600"/>
                <a:gd name="connsiteY0" fmla="*/ 0 h 6570001"/>
                <a:gd name="connsiteX1" fmla="*/ 465600 w 465600"/>
                <a:gd name="connsiteY1" fmla="*/ 0 h 6570001"/>
                <a:gd name="connsiteX2" fmla="*/ 465600 w 465600"/>
                <a:gd name="connsiteY2" fmla="*/ 6104399 h 6570001"/>
                <a:gd name="connsiteX3" fmla="*/ 465599 w 465600"/>
                <a:gd name="connsiteY3" fmla="*/ 6104399 h 6570001"/>
                <a:gd name="connsiteX4" fmla="*/ 1 w 465600"/>
                <a:gd name="connsiteY4" fmla="*/ 6570001 h 6570001"/>
                <a:gd name="connsiteX5" fmla="*/ 1 w 465600"/>
                <a:gd name="connsiteY5" fmla="*/ 6104399 h 6570001"/>
                <a:gd name="connsiteX6" fmla="*/ 0 w 465600"/>
                <a:gd name="connsiteY6" fmla="*/ 6104399 h 657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0" h="6570001">
                  <a:moveTo>
                    <a:pt x="0" y="0"/>
                  </a:moveTo>
                  <a:lnTo>
                    <a:pt x="465600" y="0"/>
                  </a:lnTo>
                  <a:lnTo>
                    <a:pt x="465600" y="6104399"/>
                  </a:lnTo>
                  <a:lnTo>
                    <a:pt x="465599" y="6104399"/>
                  </a:lnTo>
                  <a:lnTo>
                    <a:pt x="1" y="6570001"/>
                  </a:lnTo>
                  <a:lnTo>
                    <a:pt x="1" y="6104399"/>
                  </a:lnTo>
                  <a:lnTo>
                    <a:pt x="0" y="610439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85000">
                  <a:srgbClr val="F5F5F5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" name="Freeform: Shape 25">
              <a:extLst>
                <a:ext uri="{FF2B5EF4-FFF2-40B4-BE49-F238E27FC236}">
                  <a16:creationId xmlns:a16="http://schemas.microsoft.com/office/drawing/2014/main" id="{8EB9ED79-F6D8-7A13-8672-86E099FE41DF}"/>
                </a:ext>
              </a:extLst>
            </p:cNvPr>
            <p:cNvSpPr/>
            <p:nvPr/>
          </p:nvSpPr>
          <p:spPr>
            <a:xfrm rot="16200000">
              <a:off x="5893191" y="544440"/>
              <a:ext cx="465603" cy="11904000"/>
            </a:xfrm>
            <a:custGeom>
              <a:avLst/>
              <a:gdLst>
                <a:gd name="connsiteX0" fmla="*/ 465601 w 465603"/>
                <a:gd name="connsiteY0" fmla="*/ 465600 h 11904000"/>
                <a:gd name="connsiteX1" fmla="*/ 465600 w 465603"/>
                <a:gd name="connsiteY1" fmla="*/ 11904000 h 11904000"/>
                <a:gd name="connsiteX2" fmla="*/ 0 w 465603"/>
                <a:gd name="connsiteY2" fmla="*/ 11904000 h 11904000"/>
                <a:gd name="connsiteX3" fmla="*/ 0 w 465603"/>
                <a:gd name="connsiteY3" fmla="*/ 465600 h 11904000"/>
                <a:gd name="connsiteX4" fmla="*/ 465603 w 465603"/>
                <a:gd name="connsiteY4" fmla="*/ 465599 h 11904000"/>
                <a:gd name="connsiteX5" fmla="*/ 1 w 465603"/>
                <a:gd name="connsiteY5" fmla="*/ 465599 h 11904000"/>
                <a:gd name="connsiteX6" fmla="*/ 1 w 465603"/>
                <a:gd name="connsiteY6" fmla="*/ 0 h 119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3" h="11904000">
                  <a:moveTo>
                    <a:pt x="465601" y="465600"/>
                  </a:moveTo>
                  <a:lnTo>
                    <a:pt x="465600" y="11904000"/>
                  </a:lnTo>
                  <a:lnTo>
                    <a:pt x="0" y="11904000"/>
                  </a:lnTo>
                  <a:lnTo>
                    <a:pt x="0" y="465600"/>
                  </a:lnTo>
                  <a:close/>
                  <a:moveTo>
                    <a:pt x="465603" y="465599"/>
                  </a:moveTo>
                  <a:lnTo>
                    <a:pt x="1" y="465599"/>
                  </a:lnTo>
                  <a:lnTo>
                    <a:pt x="1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100000">
                  <a:srgbClr val="F5F5F5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5" name="Freeform: Shape 35">
            <a:extLst>
              <a:ext uri="{FF2B5EF4-FFF2-40B4-BE49-F238E27FC236}">
                <a16:creationId xmlns:a16="http://schemas.microsoft.com/office/drawing/2014/main" id="{04525F12-B83B-4DF6-4F49-588AABC53BDC}"/>
              </a:ext>
            </a:extLst>
          </p:cNvPr>
          <p:cNvSpPr/>
          <p:nvPr/>
        </p:nvSpPr>
        <p:spPr>
          <a:xfrm rot="10800000">
            <a:off x="11612393" y="147664"/>
            <a:ext cx="465600" cy="6570001"/>
          </a:xfrm>
          <a:custGeom>
            <a:avLst/>
            <a:gdLst>
              <a:gd name="connsiteX0" fmla="*/ 0 w 465600"/>
              <a:gd name="connsiteY0" fmla="*/ 0 h 6570001"/>
              <a:gd name="connsiteX1" fmla="*/ 465600 w 465600"/>
              <a:gd name="connsiteY1" fmla="*/ 0 h 6570001"/>
              <a:gd name="connsiteX2" fmla="*/ 465600 w 465600"/>
              <a:gd name="connsiteY2" fmla="*/ 6104399 h 6570001"/>
              <a:gd name="connsiteX3" fmla="*/ 465599 w 465600"/>
              <a:gd name="connsiteY3" fmla="*/ 6104399 h 6570001"/>
              <a:gd name="connsiteX4" fmla="*/ 1 w 465600"/>
              <a:gd name="connsiteY4" fmla="*/ 6570001 h 6570001"/>
              <a:gd name="connsiteX5" fmla="*/ 1 w 465600"/>
              <a:gd name="connsiteY5" fmla="*/ 6104399 h 6570001"/>
              <a:gd name="connsiteX6" fmla="*/ 0 w 465600"/>
              <a:gd name="connsiteY6" fmla="*/ 6104399 h 657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0" h="6570001">
                <a:moveTo>
                  <a:pt x="0" y="0"/>
                </a:moveTo>
                <a:lnTo>
                  <a:pt x="465600" y="0"/>
                </a:lnTo>
                <a:lnTo>
                  <a:pt x="465600" y="6104399"/>
                </a:lnTo>
                <a:lnTo>
                  <a:pt x="465599" y="6104399"/>
                </a:lnTo>
                <a:lnTo>
                  <a:pt x="1" y="6570001"/>
                </a:lnTo>
                <a:lnTo>
                  <a:pt x="1" y="6104399"/>
                </a:lnTo>
                <a:lnTo>
                  <a:pt x="0" y="6104399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85000">
                <a:srgbClr val="F5F5F5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Freeform: Shape 36">
            <a:extLst>
              <a:ext uri="{FF2B5EF4-FFF2-40B4-BE49-F238E27FC236}">
                <a16:creationId xmlns:a16="http://schemas.microsoft.com/office/drawing/2014/main" id="{CEF72461-8578-85AC-0AE4-35B34DC15687}"/>
              </a:ext>
            </a:extLst>
          </p:cNvPr>
          <p:cNvSpPr/>
          <p:nvPr/>
        </p:nvSpPr>
        <p:spPr>
          <a:xfrm rot="5400000">
            <a:off x="5863199" y="-5594685"/>
            <a:ext cx="465603" cy="11904000"/>
          </a:xfrm>
          <a:custGeom>
            <a:avLst/>
            <a:gdLst>
              <a:gd name="connsiteX0" fmla="*/ 465601 w 465603"/>
              <a:gd name="connsiteY0" fmla="*/ 465600 h 11904000"/>
              <a:gd name="connsiteX1" fmla="*/ 465600 w 465603"/>
              <a:gd name="connsiteY1" fmla="*/ 11904000 h 11904000"/>
              <a:gd name="connsiteX2" fmla="*/ 0 w 465603"/>
              <a:gd name="connsiteY2" fmla="*/ 11904000 h 11904000"/>
              <a:gd name="connsiteX3" fmla="*/ 0 w 465603"/>
              <a:gd name="connsiteY3" fmla="*/ 465600 h 11904000"/>
              <a:gd name="connsiteX4" fmla="*/ 465603 w 465603"/>
              <a:gd name="connsiteY4" fmla="*/ 465599 h 11904000"/>
              <a:gd name="connsiteX5" fmla="*/ 1 w 465603"/>
              <a:gd name="connsiteY5" fmla="*/ 465599 h 11904000"/>
              <a:gd name="connsiteX6" fmla="*/ 1 w 465603"/>
              <a:gd name="connsiteY6" fmla="*/ 0 h 119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3" h="11904000">
                <a:moveTo>
                  <a:pt x="465601" y="465600"/>
                </a:moveTo>
                <a:lnTo>
                  <a:pt x="465600" y="11904000"/>
                </a:lnTo>
                <a:lnTo>
                  <a:pt x="0" y="11904000"/>
                </a:lnTo>
                <a:lnTo>
                  <a:pt x="0" y="465600"/>
                </a:lnTo>
                <a:close/>
                <a:moveTo>
                  <a:pt x="465603" y="465599"/>
                </a:moveTo>
                <a:lnTo>
                  <a:pt x="1" y="465599"/>
                </a:lnTo>
                <a:lnTo>
                  <a:pt x="1" y="0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100000">
                <a:srgbClr val="F5F5F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0E64D-CF1A-6CE3-A3A5-4B1BC3C42740}"/>
              </a:ext>
            </a:extLst>
          </p:cNvPr>
          <p:cNvSpPr txBox="1"/>
          <p:nvPr/>
        </p:nvSpPr>
        <p:spPr>
          <a:xfrm flipH="1">
            <a:off x="143999" y="535900"/>
            <a:ext cx="495593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4000" dirty="0">
                <a:latin typeface="Times New Roman" panose="02020603050405020304" pitchFamily="18" charset="0"/>
              </a:rPr>
              <a:t>वै</a:t>
            </a:r>
            <a:endParaRPr lang="en-US" sz="4000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मा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नि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का</a:t>
            </a:r>
            <a:r>
              <a:rPr lang="en-US" dirty="0">
                <a:latin typeface="Times New Roman" panose="02020603050405020304" pitchFamily="18" charset="0"/>
              </a:rPr>
              <a:t>: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DFD77-AB84-D5F2-A47E-E810B51E5663}"/>
              </a:ext>
            </a:extLst>
          </p:cNvPr>
          <p:cNvSpPr txBox="1"/>
          <p:nvPr/>
        </p:nvSpPr>
        <p:spPr>
          <a:xfrm flipH="1">
            <a:off x="864811" y="6206022"/>
            <a:ext cx="10224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ERONAUTICAL</a:t>
            </a:r>
            <a:r>
              <a:rPr lang="en-US" sz="2000" b="1" spc="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NGINEERING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EPARTMENT,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PCE</a:t>
            </a:r>
            <a:endParaRPr lang="en-IN" sz="2000" b="1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6F0974-317D-7EE3-C4A7-5850E169AEC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11237" y="6049926"/>
            <a:ext cx="961417" cy="6714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7408" y="731520"/>
            <a:ext cx="10997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AIM &amp; OBJECTIVE</a:t>
            </a:r>
          </a:p>
        </p:txBody>
      </p:sp>
      <p:pic>
        <p:nvPicPr>
          <p:cNvPr id="2050" name="Picture 2" descr="C:\Users\lllllllll\Downloads\WhatsApp Image 2025-03-19 at 9.04.18 PM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86784" y="4092988"/>
            <a:ext cx="4286291" cy="1774792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CE7169-5C93-D595-57CD-AE81D003D760}"/>
              </a:ext>
            </a:extLst>
          </p:cNvPr>
          <p:cNvSpPr txBox="1"/>
          <p:nvPr/>
        </p:nvSpPr>
        <p:spPr>
          <a:xfrm>
            <a:off x="998523" y="1295659"/>
            <a:ext cx="102249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Aim:</a:t>
            </a:r>
            <a:br>
              <a:rPr lang="en-US" dirty="0"/>
            </a:br>
            <a:r>
              <a:rPr lang="en-US" dirty="0"/>
              <a:t>To develop an AI-powered system that can accurately detect deepfake videos and prevent their misuse in fraud, fake news, and cybercrime.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 Objectives: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Identify fake videos by analyzing face movements, lip-sync, and textures.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deep learning models (CNN, EfficientNetB4) for accurate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Ensure real-time processing for quick and effective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Improve detection accuracy by training on large datasets.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 user-friendly tool that can be used by social media platforms, journalists, and law enforcement.</a:t>
            </a:r>
          </a:p>
          <a:p>
            <a:endParaRPr lang="en-I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9A3A035-DDA2-FB0E-4248-547B03F84519}"/>
              </a:ext>
            </a:extLst>
          </p:cNvPr>
          <p:cNvGrpSpPr/>
          <p:nvPr/>
        </p:nvGrpSpPr>
        <p:grpSpPr>
          <a:xfrm>
            <a:off x="144000" y="117185"/>
            <a:ext cx="11933993" cy="6593151"/>
            <a:chOff x="144000" y="136090"/>
            <a:chExt cx="11933993" cy="6593151"/>
          </a:xfrm>
        </p:grpSpPr>
        <p:sp>
          <p:nvSpPr>
            <p:cNvPr id="3" name="Freeform: Shape 26">
              <a:extLst>
                <a:ext uri="{FF2B5EF4-FFF2-40B4-BE49-F238E27FC236}">
                  <a16:creationId xmlns:a16="http://schemas.microsoft.com/office/drawing/2014/main" id="{F3E990C2-E823-0B85-C4E4-07E447BFB0BD}"/>
                </a:ext>
              </a:extLst>
            </p:cNvPr>
            <p:cNvSpPr/>
            <p:nvPr/>
          </p:nvSpPr>
          <p:spPr>
            <a:xfrm>
              <a:off x="144000" y="136090"/>
              <a:ext cx="465600" cy="6570001"/>
            </a:xfrm>
            <a:custGeom>
              <a:avLst/>
              <a:gdLst>
                <a:gd name="connsiteX0" fmla="*/ 0 w 465600"/>
                <a:gd name="connsiteY0" fmla="*/ 0 h 6570001"/>
                <a:gd name="connsiteX1" fmla="*/ 465600 w 465600"/>
                <a:gd name="connsiteY1" fmla="*/ 0 h 6570001"/>
                <a:gd name="connsiteX2" fmla="*/ 465600 w 465600"/>
                <a:gd name="connsiteY2" fmla="*/ 6104399 h 6570001"/>
                <a:gd name="connsiteX3" fmla="*/ 465599 w 465600"/>
                <a:gd name="connsiteY3" fmla="*/ 6104399 h 6570001"/>
                <a:gd name="connsiteX4" fmla="*/ 1 w 465600"/>
                <a:gd name="connsiteY4" fmla="*/ 6570001 h 6570001"/>
                <a:gd name="connsiteX5" fmla="*/ 1 w 465600"/>
                <a:gd name="connsiteY5" fmla="*/ 6104399 h 6570001"/>
                <a:gd name="connsiteX6" fmla="*/ 0 w 465600"/>
                <a:gd name="connsiteY6" fmla="*/ 6104399 h 657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0" h="6570001">
                  <a:moveTo>
                    <a:pt x="0" y="0"/>
                  </a:moveTo>
                  <a:lnTo>
                    <a:pt x="465600" y="0"/>
                  </a:lnTo>
                  <a:lnTo>
                    <a:pt x="465600" y="6104399"/>
                  </a:lnTo>
                  <a:lnTo>
                    <a:pt x="465599" y="6104399"/>
                  </a:lnTo>
                  <a:lnTo>
                    <a:pt x="1" y="6570001"/>
                  </a:lnTo>
                  <a:lnTo>
                    <a:pt x="1" y="6104399"/>
                  </a:lnTo>
                  <a:lnTo>
                    <a:pt x="0" y="610439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85000">
                  <a:srgbClr val="F5F5F5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" name="Freeform: Shape 25">
              <a:extLst>
                <a:ext uri="{FF2B5EF4-FFF2-40B4-BE49-F238E27FC236}">
                  <a16:creationId xmlns:a16="http://schemas.microsoft.com/office/drawing/2014/main" id="{8EB9ED79-F6D8-7A13-8672-86E099FE41DF}"/>
                </a:ext>
              </a:extLst>
            </p:cNvPr>
            <p:cNvSpPr/>
            <p:nvPr/>
          </p:nvSpPr>
          <p:spPr>
            <a:xfrm rot="16200000">
              <a:off x="5893191" y="544440"/>
              <a:ext cx="465603" cy="11904000"/>
            </a:xfrm>
            <a:custGeom>
              <a:avLst/>
              <a:gdLst>
                <a:gd name="connsiteX0" fmla="*/ 465601 w 465603"/>
                <a:gd name="connsiteY0" fmla="*/ 465600 h 11904000"/>
                <a:gd name="connsiteX1" fmla="*/ 465600 w 465603"/>
                <a:gd name="connsiteY1" fmla="*/ 11904000 h 11904000"/>
                <a:gd name="connsiteX2" fmla="*/ 0 w 465603"/>
                <a:gd name="connsiteY2" fmla="*/ 11904000 h 11904000"/>
                <a:gd name="connsiteX3" fmla="*/ 0 w 465603"/>
                <a:gd name="connsiteY3" fmla="*/ 465600 h 11904000"/>
                <a:gd name="connsiteX4" fmla="*/ 465603 w 465603"/>
                <a:gd name="connsiteY4" fmla="*/ 465599 h 11904000"/>
                <a:gd name="connsiteX5" fmla="*/ 1 w 465603"/>
                <a:gd name="connsiteY5" fmla="*/ 465599 h 11904000"/>
                <a:gd name="connsiteX6" fmla="*/ 1 w 465603"/>
                <a:gd name="connsiteY6" fmla="*/ 0 h 119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3" h="11904000">
                  <a:moveTo>
                    <a:pt x="465601" y="465600"/>
                  </a:moveTo>
                  <a:lnTo>
                    <a:pt x="465600" y="11904000"/>
                  </a:lnTo>
                  <a:lnTo>
                    <a:pt x="0" y="11904000"/>
                  </a:lnTo>
                  <a:lnTo>
                    <a:pt x="0" y="465600"/>
                  </a:lnTo>
                  <a:close/>
                  <a:moveTo>
                    <a:pt x="465603" y="465599"/>
                  </a:moveTo>
                  <a:lnTo>
                    <a:pt x="1" y="465599"/>
                  </a:lnTo>
                  <a:lnTo>
                    <a:pt x="1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100000">
                  <a:srgbClr val="F5F5F5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5" name="Freeform: Shape 35">
            <a:extLst>
              <a:ext uri="{FF2B5EF4-FFF2-40B4-BE49-F238E27FC236}">
                <a16:creationId xmlns:a16="http://schemas.microsoft.com/office/drawing/2014/main" id="{04525F12-B83B-4DF6-4F49-588AABC53BDC}"/>
              </a:ext>
            </a:extLst>
          </p:cNvPr>
          <p:cNvSpPr/>
          <p:nvPr/>
        </p:nvSpPr>
        <p:spPr>
          <a:xfrm rot="10800000">
            <a:off x="11612393" y="147664"/>
            <a:ext cx="465600" cy="6570001"/>
          </a:xfrm>
          <a:custGeom>
            <a:avLst/>
            <a:gdLst>
              <a:gd name="connsiteX0" fmla="*/ 0 w 465600"/>
              <a:gd name="connsiteY0" fmla="*/ 0 h 6570001"/>
              <a:gd name="connsiteX1" fmla="*/ 465600 w 465600"/>
              <a:gd name="connsiteY1" fmla="*/ 0 h 6570001"/>
              <a:gd name="connsiteX2" fmla="*/ 465600 w 465600"/>
              <a:gd name="connsiteY2" fmla="*/ 6104399 h 6570001"/>
              <a:gd name="connsiteX3" fmla="*/ 465599 w 465600"/>
              <a:gd name="connsiteY3" fmla="*/ 6104399 h 6570001"/>
              <a:gd name="connsiteX4" fmla="*/ 1 w 465600"/>
              <a:gd name="connsiteY4" fmla="*/ 6570001 h 6570001"/>
              <a:gd name="connsiteX5" fmla="*/ 1 w 465600"/>
              <a:gd name="connsiteY5" fmla="*/ 6104399 h 6570001"/>
              <a:gd name="connsiteX6" fmla="*/ 0 w 465600"/>
              <a:gd name="connsiteY6" fmla="*/ 6104399 h 657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0" h="6570001">
                <a:moveTo>
                  <a:pt x="0" y="0"/>
                </a:moveTo>
                <a:lnTo>
                  <a:pt x="465600" y="0"/>
                </a:lnTo>
                <a:lnTo>
                  <a:pt x="465600" y="6104399"/>
                </a:lnTo>
                <a:lnTo>
                  <a:pt x="465599" y="6104399"/>
                </a:lnTo>
                <a:lnTo>
                  <a:pt x="1" y="6570001"/>
                </a:lnTo>
                <a:lnTo>
                  <a:pt x="1" y="6104399"/>
                </a:lnTo>
                <a:lnTo>
                  <a:pt x="0" y="6104399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85000">
                <a:srgbClr val="F5F5F5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Freeform: Shape 36">
            <a:extLst>
              <a:ext uri="{FF2B5EF4-FFF2-40B4-BE49-F238E27FC236}">
                <a16:creationId xmlns:a16="http://schemas.microsoft.com/office/drawing/2014/main" id="{CEF72461-8578-85AC-0AE4-35B34DC15687}"/>
              </a:ext>
            </a:extLst>
          </p:cNvPr>
          <p:cNvSpPr/>
          <p:nvPr/>
        </p:nvSpPr>
        <p:spPr>
          <a:xfrm rot="5400000">
            <a:off x="5863199" y="-5594685"/>
            <a:ext cx="465603" cy="11904000"/>
          </a:xfrm>
          <a:custGeom>
            <a:avLst/>
            <a:gdLst>
              <a:gd name="connsiteX0" fmla="*/ 465601 w 465603"/>
              <a:gd name="connsiteY0" fmla="*/ 465600 h 11904000"/>
              <a:gd name="connsiteX1" fmla="*/ 465600 w 465603"/>
              <a:gd name="connsiteY1" fmla="*/ 11904000 h 11904000"/>
              <a:gd name="connsiteX2" fmla="*/ 0 w 465603"/>
              <a:gd name="connsiteY2" fmla="*/ 11904000 h 11904000"/>
              <a:gd name="connsiteX3" fmla="*/ 0 w 465603"/>
              <a:gd name="connsiteY3" fmla="*/ 465600 h 11904000"/>
              <a:gd name="connsiteX4" fmla="*/ 465603 w 465603"/>
              <a:gd name="connsiteY4" fmla="*/ 465599 h 11904000"/>
              <a:gd name="connsiteX5" fmla="*/ 1 w 465603"/>
              <a:gd name="connsiteY5" fmla="*/ 465599 h 11904000"/>
              <a:gd name="connsiteX6" fmla="*/ 1 w 465603"/>
              <a:gd name="connsiteY6" fmla="*/ 0 h 119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3" h="11904000">
                <a:moveTo>
                  <a:pt x="465601" y="465600"/>
                </a:moveTo>
                <a:lnTo>
                  <a:pt x="465600" y="11904000"/>
                </a:lnTo>
                <a:lnTo>
                  <a:pt x="0" y="11904000"/>
                </a:lnTo>
                <a:lnTo>
                  <a:pt x="0" y="465600"/>
                </a:lnTo>
                <a:close/>
                <a:moveTo>
                  <a:pt x="465603" y="465599"/>
                </a:moveTo>
                <a:lnTo>
                  <a:pt x="1" y="465599"/>
                </a:lnTo>
                <a:lnTo>
                  <a:pt x="1" y="0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100000">
                <a:srgbClr val="F5F5F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0E64D-CF1A-6CE3-A3A5-4B1BC3C42740}"/>
              </a:ext>
            </a:extLst>
          </p:cNvPr>
          <p:cNvSpPr txBox="1"/>
          <p:nvPr/>
        </p:nvSpPr>
        <p:spPr>
          <a:xfrm flipH="1">
            <a:off x="143999" y="535900"/>
            <a:ext cx="495593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4000" dirty="0">
                <a:latin typeface="Times New Roman" panose="02020603050405020304" pitchFamily="18" charset="0"/>
              </a:rPr>
              <a:t>वै</a:t>
            </a:r>
            <a:endParaRPr lang="en-US" sz="4000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मा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नि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का</a:t>
            </a:r>
            <a:r>
              <a:rPr lang="en-US" dirty="0">
                <a:latin typeface="Times New Roman" panose="02020603050405020304" pitchFamily="18" charset="0"/>
              </a:rPr>
              <a:t>: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DFD77-AB84-D5F2-A47E-E810B51E5663}"/>
              </a:ext>
            </a:extLst>
          </p:cNvPr>
          <p:cNvSpPr txBox="1"/>
          <p:nvPr/>
        </p:nvSpPr>
        <p:spPr>
          <a:xfrm flipH="1">
            <a:off x="864811" y="6206022"/>
            <a:ext cx="10224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ERONAUTICAL</a:t>
            </a:r>
            <a:r>
              <a:rPr lang="en-US" sz="2000" b="1" spc="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NGINEERING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EPARTMENT,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PCE</a:t>
            </a:r>
            <a:endParaRPr lang="en-IN" sz="2000" b="1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6F0974-317D-7EE3-C4A7-5850E169AEC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11237" y="6049926"/>
            <a:ext cx="961417" cy="6714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7408" y="731520"/>
            <a:ext cx="10997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840232" y="1752600"/>
            <a:ext cx="10314120" cy="3939540"/>
            <a:chOff x="840232" y="1752600"/>
            <a:chExt cx="10314120" cy="3939540"/>
          </a:xfrm>
        </p:grpSpPr>
        <p:sp>
          <p:nvSpPr>
            <p:cNvPr id="11" name="TextBox 10"/>
            <p:cNvSpPr txBox="1"/>
            <p:nvPr/>
          </p:nvSpPr>
          <p:spPr>
            <a:xfrm>
              <a:off x="840232" y="1752600"/>
              <a:ext cx="5966968" cy="3939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What are Deepfakes ?</a:t>
              </a:r>
            </a:p>
            <a:p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Deepfakes are essentially manipulated media, most often videos or audio recordings, that use artificial intelligence (AI) to replace one person's likeness with that of another convincingly.</a:t>
              </a:r>
            </a:p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  <a:p>
              <a:r>
                <a:rPr lang="en-US" dirty="0" err="1">
                  <a:latin typeface="Times New Roman" pitchFamily="18" charset="0"/>
                  <a:cs typeface="Times New Roman" pitchFamily="18" charset="0"/>
                </a:rPr>
                <a:t>Deepfakes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rely heavily on "deep learning," a subset of AI, particularly techniques like Generative Adversarial Networks (GANs). </a:t>
              </a:r>
            </a:p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These algorithms analyze vast amounts of data (images, videos, audio) to learn a person's features and then use that knowledge to create realistic forgeries.</a:t>
              </a:r>
            </a:p>
          </p:txBody>
        </p:sp>
        <p:pic>
          <p:nvPicPr>
            <p:cNvPr id="1026" name="Picture 2" descr="C:\Users\lllllllll\Downloads\WhatsApp Image 2025-03-19 at 9.04.05 PM.jpe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839713" y="2213355"/>
              <a:ext cx="4314639" cy="201574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2236" y="1403797"/>
            <a:ext cx="819464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Statement: Detecting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Deepfake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Media Using AI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Solution – AI-Based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Deepfake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Detection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We developed an AI model that can: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✔ Analyze faces in videos to find unnatural features.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✔ Check for mismatched lip movements and voice sync issues.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✔ Detect tiny inconsistencies in skin, lighting, and expressions.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✔ Learn from new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deepfakes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improve over time.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Goal: Build a detection system that is accurate, fast, and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works in real-world situations.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A3A035-DDA2-FB0E-4248-547B03F84519}"/>
              </a:ext>
            </a:extLst>
          </p:cNvPr>
          <p:cNvGrpSpPr/>
          <p:nvPr/>
        </p:nvGrpSpPr>
        <p:grpSpPr>
          <a:xfrm>
            <a:off x="144000" y="117185"/>
            <a:ext cx="11933993" cy="6593151"/>
            <a:chOff x="144000" y="136090"/>
            <a:chExt cx="11933993" cy="6593151"/>
          </a:xfrm>
        </p:grpSpPr>
        <p:sp>
          <p:nvSpPr>
            <p:cNvPr id="4" name="Freeform: Shape 26">
              <a:extLst>
                <a:ext uri="{FF2B5EF4-FFF2-40B4-BE49-F238E27FC236}">
                  <a16:creationId xmlns:a16="http://schemas.microsoft.com/office/drawing/2014/main" id="{F3E990C2-E823-0B85-C4E4-07E447BFB0BD}"/>
                </a:ext>
              </a:extLst>
            </p:cNvPr>
            <p:cNvSpPr/>
            <p:nvPr/>
          </p:nvSpPr>
          <p:spPr>
            <a:xfrm>
              <a:off x="144000" y="136090"/>
              <a:ext cx="465600" cy="6570001"/>
            </a:xfrm>
            <a:custGeom>
              <a:avLst/>
              <a:gdLst>
                <a:gd name="connsiteX0" fmla="*/ 0 w 465600"/>
                <a:gd name="connsiteY0" fmla="*/ 0 h 6570001"/>
                <a:gd name="connsiteX1" fmla="*/ 465600 w 465600"/>
                <a:gd name="connsiteY1" fmla="*/ 0 h 6570001"/>
                <a:gd name="connsiteX2" fmla="*/ 465600 w 465600"/>
                <a:gd name="connsiteY2" fmla="*/ 6104399 h 6570001"/>
                <a:gd name="connsiteX3" fmla="*/ 465599 w 465600"/>
                <a:gd name="connsiteY3" fmla="*/ 6104399 h 6570001"/>
                <a:gd name="connsiteX4" fmla="*/ 1 w 465600"/>
                <a:gd name="connsiteY4" fmla="*/ 6570001 h 6570001"/>
                <a:gd name="connsiteX5" fmla="*/ 1 w 465600"/>
                <a:gd name="connsiteY5" fmla="*/ 6104399 h 6570001"/>
                <a:gd name="connsiteX6" fmla="*/ 0 w 465600"/>
                <a:gd name="connsiteY6" fmla="*/ 6104399 h 657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0" h="6570001">
                  <a:moveTo>
                    <a:pt x="0" y="0"/>
                  </a:moveTo>
                  <a:lnTo>
                    <a:pt x="465600" y="0"/>
                  </a:lnTo>
                  <a:lnTo>
                    <a:pt x="465600" y="6104399"/>
                  </a:lnTo>
                  <a:lnTo>
                    <a:pt x="465599" y="6104399"/>
                  </a:lnTo>
                  <a:lnTo>
                    <a:pt x="1" y="6570001"/>
                  </a:lnTo>
                  <a:lnTo>
                    <a:pt x="1" y="6104399"/>
                  </a:lnTo>
                  <a:lnTo>
                    <a:pt x="0" y="610439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85000">
                  <a:srgbClr val="F5F5F5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5" name="Freeform: Shape 25">
              <a:extLst>
                <a:ext uri="{FF2B5EF4-FFF2-40B4-BE49-F238E27FC236}">
                  <a16:creationId xmlns:a16="http://schemas.microsoft.com/office/drawing/2014/main" id="{8EB9ED79-F6D8-7A13-8672-86E099FE41DF}"/>
                </a:ext>
              </a:extLst>
            </p:cNvPr>
            <p:cNvSpPr/>
            <p:nvPr/>
          </p:nvSpPr>
          <p:spPr>
            <a:xfrm rot="16200000">
              <a:off x="5893191" y="544440"/>
              <a:ext cx="465603" cy="11904000"/>
            </a:xfrm>
            <a:custGeom>
              <a:avLst/>
              <a:gdLst>
                <a:gd name="connsiteX0" fmla="*/ 465601 w 465603"/>
                <a:gd name="connsiteY0" fmla="*/ 465600 h 11904000"/>
                <a:gd name="connsiteX1" fmla="*/ 465600 w 465603"/>
                <a:gd name="connsiteY1" fmla="*/ 11904000 h 11904000"/>
                <a:gd name="connsiteX2" fmla="*/ 0 w 465603"/>
                <a:gd name="connsiteY2" fmla="*/ 11904000 h 11904000"/>
                <a:gd name="connsiteX3" fmla="*/ 0 w 465603"/>
                <a:gd name="connsiteY3" fmla="*/ 465600 h 11904000"/>
                <a:gd name="connsiteX4" fmla="*/ 465603 w 465603"/>
                <a:gd name="connsiteY4" fmla="*/ 465599 h 11904000"/>
                <a:gd name="connsiteX5" fmla="*/ 1 w 465603"/>
                <a:gd name="connsiteY5" fmla="*/ 465599 h 11904000"/>
                <a:gd name="connsiteX6" fmla="*/ 1 w 465603"/>
                <a:gd name="connsiteY6" fmla="*/ 0 h 119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3" h="11904000">
                  <a:moveTo>
                    <a:pt x="465601" y="465600"/>
                  </a:moveTo>
                  <a:lnTo>
                    <a:pt x="465600" y="11904000"/>
                  </a:lnTo>
                  <a:lnTo>
                    <a:pt x="0" y="11904000"/>
                  </a:lnTo>
                  <a:lnTo>
                    <a:pt x="0" y="465600"/>
                  </a:lnTo>
                  <a:close/>
                  <a:moveTo>
                    <a:pt x="465603" y="465599"/>
                  </a:moveTo>
                  <a:lnTo>
                    <a:pt x="1" y="465599"/>
                  </a:lnTo>
                  <a:lnTo>
                    <a:pt x="1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100000">
                  <a:srgbClr val="F5F5F5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6" name="Freeform: Shape 35">
            <a:extLst>
              <a:ext uri="{FF2B5EF4-FFF2-40B4-BE49-F238E27FC236}">
                <a16:creationId xmlns:a16="http://schemas.microsoft.com/office/drawing/2014/main" id="{04525F12-B83B-4DF6-4F49-588AABC53BDC}"/>
              </a:ext>
            </a:extLst>
          </p:cNvPr>
          <p:cNvSpPr/>
          <p:nvPr/>
        </p:nvSpPr>
        <p:spPr>
          <a:xfrm rot="10800000">
            <a:off x="11612393" y="147664"/>
            <a:ext cx="465600" cy="6570001"/>
          </a:xfrm>
          <a:custGeom>
            <a:avLst/>
            <a:gdLst>
              <a:gd name="connsiteX0" fmla="*/ 0 w 465600"/>
              <a:gd name="connsiteY0" fmla="*/ 0 h 6570001"/>
              <a:gd name="connsiteX1" fmla="*/ 465600 w 465600"/>
              <a:gd name="connsiteY1" fmla="*/ 0 h 6570001"/>
              <a:gd name="connsiteX2" fmla="*/ 465600 w 465600"/>
              <a:gd name="connsiteY2" fmla="*/ 6104399 h 6570001"/>
              <a:gd name="connsiteX3" fmla="*/ 465599 w 465600"/>
              <a:gd name="connsiteY3" fmla="*/ 6104399 h 6570001"/>
              <a:gd name="connsiteX4" fmla="*/ 1 w 465600"/>
              <a:gd name="connsiteY4" fmla="*/ 6570001 h 6570001"/>
              <a:gd name="connsiteX5" fmla="*/ 1 w 465600"/>
              <a:gd name="connsiteY5" fmla="*/ 6104399 h 6570001"/>
              <a:gd name="connsiteX6" fmla="*/ 0 w 465600"/>
              <a:gd name="connsiteY6" fmla="*/ 6104399 h 657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0" h="6570001">
                <a:moveTo>
                  <a:pt x="0" y="0"/>
                </a:moveTo>
                <a:lnTo>
                  <a:pt x="465600" y="0"/>
                </a:lnTo>
                <a:lnTo>
                  <a:pt x="465600" y="6104399"/>
                </a:lnTo>
                <a:lnTo>
                  <a:pt x="465599" y="6104399"/>
                </a:lnTo>
                <a:lnTo>
                  <a:pt x="1" y="6570001"/>
                </a:lnTo>
                <a:lnTo>
                  <a:pt x="1" y="6104399"/>
                </a:lnTo>
                <a:lnTo>
                  <a:pt x="0" y="6104399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85000">
                <a:srgbClr val="F5F5F5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" name="Freeform: Shape 36">
            <a:extLst>
              <a:ext uri="{FF2B5EF4-FFF2-40B4-BE49-F238E27FC236}">
                <a16:creationId xmlns:a16="http://schemas.microsoft.com/office/drawing/2014/main" id="{CEF72461-8578-85AC-0AE4-35B34DC15687}"/>
              </a:ext>
            </a:extLst>
          </p:cNvPr>
          <p:cNvSpPr/>
          <p:nvPr/>
        </p:nvSpPr>
        <p:spPr>
          <a:xfrm rot="5400000">
            <a:off x="5863199" y="-5594685"/>
            <a:ext cx="465603" cy="11904000"/>
          </a:xfrm>
          <a:custGeom>
            <a:avLst/>
            <a:gdLst>
              <a:gd name="connsiteX0" fmla="*/ 465601 w 465603"/>
              <a:gd name="connsiteY0" fmla="*/ 465600 h 11904000"/>
              <a:gd name="connsiteX1" fmla="*/ 465600 w 465603"/>
              <a:gd name="connsiteY1" fmla="*/ 11904000 h 11904000"/>
              <a:gd name="connsiteX2" fmla="*/ 0 w 465603"/>
              <a:gd name="connsiteY2" fmla="*/ 11904000 h 11904000"/>
              <a:gd name="connsiteX3" fmla="*/ 0 w 465603"/>
              <a:gd name="connsiteY3" fmla="*/ 465600 h 11904000"/>
              <a:gd name="connsiteX4" fmla="*/ 465603 w 465603"/>
              <a:gd name="connsiteY4" fmla="*/ 465599 h 11904000"/>
              <a:gd name="connsiteX5" fmla="*/ 1 w 465603"/>
              <a:gd name="connsiteY5" fmla="*/ 465599 h 11904000"/>
              <a:gd name="connsiteX6" fmla="*/ 1 w 465603"/>
              <a:gd name="connsiteY6" fmla="*/ 0 h 119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3" h="11904000">
                <a:moveTo>
                  <a:pt x="465601" y="465600"/>
                </a:moveTo>
                <a:lnTo>
                  <a:pt x="465600" y="11904000"/>
                </a:lnTo>
                <a:lnTo>
                  <a:pt x="0" y="11904000"/>
                </a:lnTo>
                <a:lnTo>
                  <a:pt x="0" y="465600"/>
                </a:lnTo>
                <a:close/>
                <a:moveTo>
                  <a:pt x="465603" y="465599"/>
                </a:moveTo>
                <a:lnTo>
                  <a:pt x="1" y="465599"/>
                </a:lnTo>
                <a:lnTo>
                  <a:pt x="1" y="0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100000">
                <a:srgbClr val="F5F5F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0E64D-CF1A-6CE3-A3A5-4B1BC3C42740}"/>
              </a:ext>
            </a:extLst>
          </p:cNvPr>
          <p:cNvSpPr txBox="1"/>
          <p:nvPr/>
        </p:nvSpPr>
        <p:spPr>
          <a:xfrm flipH="1">
            <a:off x="143999" y="535900"/>
            <a:ext cx="495593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4000" dirty="0">
                <a:latin typeface="Times New Roman" panose="02020603050405020304" pitchFamily="18" charset="0"/>
              </a:rPr>
              <a:t>वै</a:t>
            </a:r>
            <a:endParaRPr lang="en-US" sz="4000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मा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नि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का</a:t>
            </a:r>
            <a:r>
              <a:rPr lang="en-US" dirty="0">
                <a:latin typeface="Times New Roman" panose="02020603050405020304" pitchFamily="18" charset="0"/>
              </a:rPr>
              <a:t>: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3DFD77-AB84-D5F2-A47E-E810B51E5663}"/>
              </a:ext>
            </a:extLst>
          </p:cNvPr>
          <p:cNvSpPr txBox="1"/>
          <p:nvPr/>
        </p:nvSpPr>
        <p:spPr>
          <a:xfrm flipH="1">
            <a:off x="864811" y="6206022"/>
            <a:ext cx="10224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ERONAUTICAL</a:t>
            </a:r>
            <a:r>
              <a:rPr lang="en-US" sz="2000" b="1" spc="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NGINEERING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EPARTMENT,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PCE</a:t>
            </a:r>
            <a:endParaRPr lang="en-IN" sz="2000" b="1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Deepfake Detection Using the Rate of ...">
            <a:extLst>
              <a:ext uri="{FF2B5EF4-FFF2-40B4-BE49-F238E27FC236}">
                <a16:creationId xmlns:a16="http://schemas.microsoft.com/office/drawing/2014/main" id="{DEEC0AC6-A5D2-AB8F-178C-C17436D50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929" y="1516396"/>
            <a:ext cx="3564835" cy="3139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9A3A035-DDA2-FB0E-4248-547B03F84519}"/>
              </a:ext>
            </a:extLst>
          </p:cNvPr>
          <p:cNvGrpSpPr/>
          <p:nvPr/>
        </p:nvGrpSpPr>
        <p:grpSpPr>
          <a:xfrm>
            <a:off x="144000" y="117185"/>
            <a:ext cx="11933993" cy="6593151"/>
            <a:chOff x="144000" y="136090"/>
            <a:chExt cx="11933993" cy="6593151"/>
          </a:xfrm>
        </p:grpSpPr>
        <p:sp>
          <p:nvSpPr>
            <p:cNvPr id="3" name="Freeform: Shape 26">
              <a:extLst>
                <a:ext uri="{FF2B5EF4-FFF2-40B4-BE49-F238E27FC236}">
                  <a16:creationId xmlns:a16="http://schemas.microsoft.com/office/drawing/2014/main" id="{F3E990C2-E823-0B85-C4E4-07E447BFB0BD}"/>
                </a:ext>
              </a:extLst>
            </p:cNvPr>
            <p:cNvSpPr/>
            <p:nvPr/>
          </p:nvSpPr>
          <p:spPr>
            <a:xfrm>
              <a:off x="144000" y="136090"/>
              <a:ext cx="465600" cy="6570001"/>
            </a:xfrm>
            <a:custGeom>
              <a:avLst/>
              <a:gdLst>
                <a:gd name="connsiteX0" fmla="*/ 0 w 465600"/>
                <a:gd name="connsiteY0" fmla="*/ 0 h 6570001"/>
                <a:gd name="connsiteX1" fmla="*/ 465600 w 465600"/>
                <a:gd name="connsiteY1" fmla="*/ 0 h 6570001"/>
                <a:gd name="connsiteX2" fmla="*/ 465600 w 465600"/>
                <a:gd name="connsiteY2" fmla="*/ 6104399 h 6570001"/>
                <a:gd name="connsiteX3" fmla="*/ 465599 w 465600"/>
                <a:gd name="connsiteY3" fmla="*/ 6104399 h 6570001"/>
                <a:gd name="connsiteX4" fmla="*/ 1 w 465600"/>
                <a:gd name="connsiteY4" fmla="*/ 6570001 h 6570001"/>
                <a:gd name="connsiteX5" fmla="*/ 1 w 465600"/>
                <a:gd name="connsiteY5" fmla="*/ 6104399 h 6570001"/>
                <a:gd name="connsiteX6" fmla="*/ 0 w 465600"/>
                <a:gd name="connsiteY6" fmla="*/ 6104399 h 657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0" h="6570001">
                  <a:moveTo>
                    <a:pt x="0" y="0"/>
                  </a:moveTo>
                  <a:lnTo>
                    <a:pt x="465600" y="0"/>
                  </a:lnTo>
                  <a:lnTo>
                    <a:pt x="465600" y="6104399"/>
                  </a:lnTo>
                  <a:lnTo>
                    <a:pt x="465599" y="6104399"/>
                  </a:lnTo>
                  <a:lnTo>
                    <a:pt x="1" y="6570001"/>
                  </a:lnTo>
                  <a:lnTo>
                    <a:pt x="1" y="6104399"/>
                  </a:lnTo>
                  <a:lnTo>
                    <a:pt x="0" y="610439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85000">
                  <a:srgbClr val="F5F5F5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" name="Freeform: Shape 25">
              <a:extLst>
                <a:ext uri="{FF2B5EF4-FFF2-40B4-BE49-F238E27FC236}">
                  <a16:creationId xmlns:a16="http://schemas.microsoft.com/office/drawing/2014/main" id="{8EB9ED79-F6D8-7A13-8672-86E099FE41DF}"/>
                </a:ext>
              </a:extLst>
            </p:cNvPr>
            <p:cNvSpPr/>
            <p:nvPr/>
          </p:nvSpPr>
          <p:spPr>
            <a:xfrm rot="16200000">
              <a:off x="5893191" y="544440"/>
              <a:ext cx="465603" cy="11904000"/>
            </a:xfrm>
            <a:custGeom>
              <a:avLst/>
              <a:gdLst>
                <a:gd name="connsiteX0" fmla="*/ 465601 w 465603"/>
                <a:gd name="connsiteY0" fmla="*/ 465600 h 11904000"/>
                <a:gd name="connsiteX1" fmla="*/ 465600 w 465603"/>
                <a:gd name="connsiteY1" fmla="*/ 11904000 h 11904000"/>
                <a:gd name="connsiteX2" fmla="*/ 0 w 465603"/>
                <a:gd name="connsiteY2" fmla="*/ 11904000 h 11904000"/>
                <a:gd name="connsiteX3" fmla="*/ 0 w 465603"/>
                <a:gd name="connsiteY3" fmla="*/ 465600 h 11904000"/>
                <a:gd name="connsiteX4" fmla="*/ 465603 w 465603"/>
                <a:gd name="connsiteY4" fmla="*/ 465599 h 11904000"/>
                <a:gd name="connsiteX5" fmla="*/ 1 w 465603"/>
                <a:gd name="connsiteY5" fmla="*/ 465599 h 11904000"/>
                <a:gd name="connsiteX6" fmla="*/ 1 w 465603"/>
                <a:gd name="connsiteY6" fmla="*/ 0 h 119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3" h="11904000">
                  <a:moveTo>
                    <a:pt x="465601" y="465600"/>
                  </a:moveTo>
                  <a:lnTo>
                    <a:pt x="465600" y="11904000"/>
                  </a:lnTo>
                  <a:lnTo>
                    <a:pt x="0" y="11904000"/>
                  </a:lnTo>
                  <a:lnTo>
                    <a:pt x="0" y="465600"/>
                  </a:lnTo>
                  <a:close/>
                  <a:moveTo>
                    <a:pt x="465603" y="465599"/>
                  </a:moveTo>
                  <a:lnTo>
                    <a:pt x="1" y="465599"/>
                  </a:lnTo>
                  <a:lnTo>
                    <a:pt x="1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100000">
                  <a:srgbClr val="F5F5F5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5" name="Freeform: Shape 35">
            <a:extLst>
              <a:ext uri="{FF2B5EF4-FFF2-40B4-BE49-F238E27FC236}">
                <a16:creationId xmlns:a16="http://schemas.microsoft.com/office/drawing/2014/main" id="{04525F12-B83B-4DF6-4F49-588AABC53BDC}"/>
              </a:ext>
            </a:extLst>
          </p:cNvPr>
          <p:cNvSpPr/>
          <p:nvPr/>
        </p:nvSpPr>
        <p:spPr>
          <a:xfrm rot="10800000">
            <a:off x="11612393" y="147664"/>
            <a:ext cx="465600" cy="6570001"/>
          </a:xfrm>
          <a:custGeom>
            <a:avLst/>
            <a:gdLst>
              <a:gd name="connsiteX0" fmla="*/ 0 w 465600"/>
              <a:gd name="connsiteY0" fmla="*/ 0 h 6570001"/>
              <a:gd name="connsiteX1" fmla="*/ 465600 w 465600"/>
              <a:gd name="connsiteY1" fmla="*/ 0 h 6570001"/>
              <a:gd name="connsiteX2" fmla="*/ 465600 w 465600"/>
              <a:gd name="connsiteY2" fmla="*/ 6104399 h 6570001"/>
              <a:gd name="connsiteX3" fmla="*/ 465599 w 465600"/>
              <a:gd name="connsiteY3" fmla="*/ 6104399 h 6570001"/>
              <a:gd name="connsiteX4" fmla="*/ 1 w 465600"/>
              <a:gd name="connsiteY4" fmla="*/ 6570001 h 6570001"/>
              <a:gd name="connsiteX5" fmla="*/ 1 w 465600"/>
              <a:gd name="connsiteY5" fmla="*/ 6104399 h 6570001"/>
              <a:gd name="connsiteX6" fmla="*/ 0 w 465600"/>
              <a:gd name="connsiteY6" fmla="*/ 6104399 h 657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0" h="6570001">
                <a:moveTo>
                  <a:pt x="0" y="0"/>
                </a:moveTo>
                <a:lnTo>
                  <a:pt x="465600" y="0"/>
                </a:lnTo>
                <a:lnTo>
                  <a:pt x="465600" y="6104399"/>
                </a:lnTo>
                <a:lnTo>
                  <a:pt x="465599" y="6104399"/>
                </a:lnTo>
                <a:lnTo>
                  <a:pt x="1" y="6570001"/>
                </a:lnTo>
                <a:lnTo>
                  <a:pt x="1" y="6104399"/>
                </a:lnTo>
                <a:lnTo>
                  <a:pt x="0" y="6104399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85000">
                <a:srgbClr val="F5F5F5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Freeform: Shape 36">
            <a:extLst>
              <a:ext uri="{FF2B5EF4-FFF2-40B4-BE49-F238E27FC236}">
                <a16:creationId xmlns:a16="http://schemas.microsoft.com/office/drawing/2014/main" id="{CEF72461-8578-85AC-0AE4-35B34DC15687}"/>
              </a:ext>
            </a:extLst>
          </p:cNvPr>
          <p:cNvSpPr/>
          <p:nvPr/>
        </p:nvSpPr>
        <p:spPr>
          <a:xfrm rot="5400000">
            <a:off x="5863199" y="-5594685"/>
            <a:ext cx="465603" cy="11904000"/>
          </a:xfrm>
          <a:custGeom>
            <a:avLst/>
            <a:gdLst>
              <a:gd name="connsiteX0" fmla="*/ 465601 w 465603"/>
              <a:gd name="connsiteY0" fmla="*/ 465600 h 11904000"/>
              <a:gd name="connsiteX1" fmla="*/ 465600 w 465603"/>
              <a:gd name="connsiteY1" fmla="*/ 11904000 h 11904000"/>
              <a:gd name="connsiteX2" fmla="*/ 0 w 465603"/>
              <a:gd name="connsiteY2" fmla="*/ 11904000 h 11904000"/>
              <a:gd name="connsiteX3" fmla="*/ 0 w 465603"/>
              <a:gd name="connsiteY3" fmla="*/ 465600 h 11904000"/>
              <a:gd name="connsiteX4" fmla="*/ 465603 w 465603"/>
              <a:gd name="connsiteY4" fmla="*/ 465599 h 11904000"/>
              <a:gd name="connsiteX5" fmla="*/ 1 w 465603"/>
              <a:gd name="connsiteY5" fmla="*/ 465599 h 11904000"/>
              <a:gd name="connsiteX6" fmla="*/ 1 w 465603"/>
              <a:gd name="connsiteY6" fmla="*/ 0 h 119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3" h="11904000">
                <a:moveTo>
                  <a:pt x="465601" y="465600"/>
                </a:moveTo>
                <a:lnTo>
                  <a:pt x="465600" y="11904000"/>
                </a:lnTo>
                <a:lnTo>
                  <a:pt x="0" y="11904000"/>
                </a:lnTo>
                <a:lnTo>
                  <a:pt x="0" y="465600"/>
                </a:lnTo>
                <a:close/>
                <a:moveTo>
                  <a:pt x="465603" y="465599"/>
                </a:moveTo>
                <a:lnTo>
                  <a:pt x="1" y="465599"/>
                </a:lnTo>
                <a:lnTo>
                  <a:pt x="1" y="0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100000">
                <a:srgbClr val="F5F5F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0E64D-CF1A-6CE3-A3A5-4B1BC3C42740}"/>
              </a:ext>
            </a:extLst>
          </p:cNvPr>
          <p:cNvSpPr txBox="1"/>
          <p:nvPr/>
        </p:nvSpPr>
        <p:spPr>
          <a:xfrm flipH="1">
            <a:off x="143999" y="535900"/>
            <a:ext cx="495593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4000" dirty="0">
                <a:latin typeface="Times New Roman" panose="02020603050405020304" pitchFamily="18" charset="0"/>
              </a:rPr>
              <a:t>वै</a:t>
            </a:r>
            <a:endParaRPr lang="en-US" sz="4000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मा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नि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का</a:t>
            </a:r>
            <a:r>
              <a:rPr lang="en-US" dirty="0">
                <a:latin typeface="Times New Roman" panose="02020603050405020304" pitchFamily="18" charset="0"/>
              </a:rPr>
              <a:t>: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DFD77-AB84-D5F2-A47E-E810B51E5663}"/>
              </a:ext>
            </a:extLst>
          </p:cNvPr>
          <p:cNvSpPr txBox="1"/>
          <p:nvPr/>
        </p:nvSpPr>
        <p:spPr>
          <a:xfrm flipH="1">
            <a:off x="864811" y="6206022"/>
            <a:ext cx="10224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ERONAUTICAL</a:t>
            </a:r>
            <a:r>
              <a:rPr lang="en-US" sz="2000" b="1" spc="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NGINEERING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EPARTMENT,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PCE</a:t>
            </a:r>
            <a:endParaRPr lang="en-IN" sz="2000" b="1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6F0974-317D-7EE3-C4A7-5850E169AEC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11237" y="6049926"/>
            <a:ext cx="961417" cy="6714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85216" y="732782"/>
            <a:ext cx="110215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110757" y="1398667"/>
            <a:ext cx="1093724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Input</a:t>
            </a:r>
          </a:p>
          <a:p>
            <a:pPr marL="342900" indent="-34290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uploads an image file via a web interface.</a:t>
            </a:r>
          </a:p>
          <a:p>
            <a:pPr marL="342900" indent="-34290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</a:p>
          <a:p>
            <a:pPr marL="342900" indent="-34290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is loaded, resampled, and transformed using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for analysis.</a:t>
            </a:r>
          </a:p>
          <a:p>
            <a:pPr marL="342900" indent="-34290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342900" indent="-34290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image EfficientNetAutoAttB4ST are extracted to represent the image and video signal.</a:t>
            </a:r>
          </a:p>
          <a:p>
            <a:pPr marL="342900" indent="-34290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Comparison</a:t>
            </a:r>
          </a:p>
          <a:p>
            <a:pPr marL="342900" indent="-34290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features are compared with a predefined dataset of real and fake images using Euclidean distance.</a:t>
            </a:r>
          </a:p>
          <a:p>
            <a:pPr marL="342900" indent="-34290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marL="342900" indent="-34290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closest match in the dataset, the image is classified as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confidence probability.</a:t>
            </a:r>
          </a:p>
          <a:p>
            <a:pPr marL="342900" indent="-34290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Display</a:t>
            </a:r>
          </a:p>
          <a:p>
            <a:pPr marL="342900" indent="-342900"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classification result and confidence level are displayed to the user.</a:t>
            </a:r>
          </a:p>
          <a:p>
            <a:endParaRPr lang="en-US" sz="12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9A3A035-DDA2-FB0E-4248-547B03F84519}"/>
              </a:ext>
            </a:extLst>
          </p:cNvPr>
          <p:cNvGrpSpPr/>
          <p:nvPr/>
        </p:nvGrpSpPr>
        <p:grpSpPr>
          <a:xfrm>
            <a:off x="144000" y="117185"/>
            <a:ext cx="11933993" cy="6593151"/>
            <a:chOff x="144000" y="136090"/>
            <a:chExt cx="11933993" cy="6593151"/>
          </a:xfrm>
        </p:grpSpPr>
        <p:sp>
          <p:nvSpPr>
            <p:cNvPr id="3" name="Freeform: Shape 26">
              <a:extLst>
                <a:ext uri="{FF2B5EF4-FFF2-40B4-BE49-F238E27FC236}">
                  <a16:creationId xmlns:a16="http://schemas.microsoft.com/office/drawing/2014/main" id="{F3E990C2-E823-0B85-C4E4-07E447BFB0BD}"/>
                </a:ext>
              </a:extLst>
            </p:cNvPr>
            <p:cNvSpPr/>
            <p:nvPr/>
          </p:nvSpPr>
          <p:spPr>
            <a:xfrm>
              <a:off x="144000" y="136090"/>
              <a:ext cx="465600" cy="6570001"/>
            </a:xfrm>
            <a:custGeom>
              <a:avLst/>
              <a:gdLst>
                <a:gd name="connsiteX0" fmla="*/ 0 w 465600"/>
                <a:gd name="connsiteY0" fmla="*/ 0 h 6570001"/>
                <a:gd name="connsiteX1" fmla="*/ 465600 w 465600"/>
                <a:gd name="connsiteY1" fmla="*/ 0 h 6570001"/>
                <a:gd name="connsiteX2" fmla="*/ 465600 w 465600"/>
                <a:gd name="connsiteY2" fmla="*/ 6104399 h 6570001"/>
                <a:gd name="connsiteX3" fmla="*/ 465599 w 465600"/>
                <a:gd name="connsiteY3" fmla="*/ 6104399 h 6570001"/>
                <a:gd name="connsiteX4" fmla="*/ 1 w 465600"/>
                <a:gd name="connsiteY4" fmla="*/ 6570001 h 6570001"/>
                <a:gd name="connsiteX5" fmla="*/ 1 w 465600"/>
                <a:gd name="connsiteY5" fmla="*/ 6104399 h 6570001"/>
                <a:gd name="connsiteX6" fmla="*/ 0 w 465600"/>
                <a:gd name="connsiteY6" fmla="*/ 6104399 h 657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0" h="6570001">
                  <a:moveTo>
                    <a:pt x="0" y="0"/>
                  </a:moveTo>
                  <a:lnTo>
                    <a:pt x="465600" y="0"/>
                  </a:lnTo>
                  <a:lnTo>
                    <a:pt x="465600" y="6104399"/>
                  </a:lnTo>
                  <a:lnTo>
                    <a:pt x="465599" y="6104399"/>
                  </a:lnTo>
                  <a:lnTo>
                    <a:pt x="1" y="6570001"/>
                  </a:lnTo>
                  <a:lnTo>
                    <a:pt x="1" y="6104399"/>
                  </a:lnTo>
                  <a:lnTo>
                    <a:pt x="0" y="610439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85000">
                  <a:srgbClr val="F5F5F5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" name="Freeform: Shape 25">
              <a:extLst>
                <a:ext uri="{FF2B5EF4-FFF2-40B4-BE49-F238E27FC236}">
                  <a16:creationId xmlns:a16="http://schemas.microsoft.com/office/drawing/2014/main" id="{8EB9ED79-F6D8-7A13-8672-86E099FE41DF}"/>
                </a:ext>
              </a:extLst>
            </p:cNvPr>
            <p:cNvSpPr/>
            <p:nvPr/>
          </p:nvSpPr>
          <p:spPr>
            <a:xfrm rot="16200000">
              <a:off x="5893191" y="544440"/>
              <a:ext cx="465603" cy="11904000"/>
            </a:xfrm>
            <a:custGeom>
              <a:avLst/>
              <a:gdLst>
                <a:gd name="connsiteX0" fmla="*/ 465601 w 465603"/>
                <a:gd name="connsiteY0" fmla="*/ 465600 h 11904000"/>
                <a:gd name="connsiteX1" fmla="*/ 465600 w 465603"/>
                <a:gd name="connsiteY1" fmla="*/ 11904000 h 11904000"/>
                <a:gd name="connsiteX2" fmla="*/ 0 w 465603"/>
                <a:gd name="connsiteY2" fmla="*/ 11904000 h 11904000"/>
                <a:gd name="connsiteX3" fmla="*/ 0 w 465603"/>
                <a:gd name="connsiteY3" fmla="*/ 465600 h 11904000"/>
                <a:gd name="connsiteX4" fmla="*/ 465603 w 465603"/>
                <a:gd name="connsiteY4" fmla="*/ 465599 h 11904000"/>
                <a:gd name="connsiteX5" fmla="*/ 1 w 465603"/>
                <a:gd name="connsiteY5" fmla="*/ 465599 h 11904000"/>
                <a:gd name="connsiteX6" fmla="*/ 1 w 465603"/>
                <a:gd name="connsiteY6" fmla="*/ 0 h 119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3" h="11904000">
                  <a:moveTo>
                    <a:pt x="465601" y="465600"/>
                  </a:moveTo>
                  <a:lnTo>
                    <a:pt x="465600" y="11904000"/>
                  </a:lnTo>
                  <a:lnTo>
                    <a:pt x="0" y="11904000"/>
                  </a:lnTo>
                  <a:lnTo>
                    <a:pt x="0" y="465600"/>
                  </a:lnTo>
                  <a:close/>
                  <a:moveTo>
                    <a:pt x="465603" y="465599"/>
                  </a:moveTo>
                  <a:lnTo>
                    <a:pt x="1" y="465599"/>
                  </a:lnTo>
                  <a:lnTo>
                    <a:pt x="1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100000">
                  <a:srgbClr val="F5F5F5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5" name="Freeform: Shape 35">
            <a:extLst>
              <a:ext uri="{FF2B5EF4-FFF2-40B4-BE49-F238E27FC236}">
                <a16:creationId xmlns:a16="http://schemas.microsoft.com/office/drawing/2014/main" id="{04525F12-B83B-4DF6-4F49-588AABC53BDC}"/>
              </a:ext>
            </a:extLst>
          </p:cNvPr>
          <p:cNvSpPr/>
          <p:nvPr/>
        </p:nvSpPr>
        <p:spPr>
          <a:xfrm rot="10800000">
            <a:off x="11612393" y="147664"/>
            <a:ext cx="465600" cy="6570001"/>
          </a:xfrm>
          <a:custGeom>
            <a:avLst/>
            <a:gdLst>
              <a:gd name="connsiteX0" fmla="*/ 0 w 465600"/>
              <a:gd name="connsiteY0" fmla="*/ 0 h 6570001"/>
              <a:gd name="connsiteX1" fmla="*/ 465600 w 465600"/>
              <a:gd name="connsiteY1" fmla="*/ 0 h 6570001"/>
              <a:gd name="connsiteX2" fmla="*/ 465600 w 465600"/>
              <a:gd name="connsiteY2" fmla="*/ 6104399 h 6570001"/>
              <a:gd name="connsiteX3" fmla="*/ 465599 w 465600"/>
              <a:gd name="connsiteY3" fmla="*/ 6104399 h 6570001"/>
              <a:gd name="connsiteX4" fmla="*/ 1 w 465600"/>
              <a:gd name="connsiteY4" fmla="*/ 6570001 h 6570001"/>
              <a:gd name="connsiteX5" fmla="*/ 1 w 465600"/>
              <a:gd name="connsiteY5" fmla="*/ 6104399 h 6570001"/>
              <a:gd name="connsiteX6" fmla="*/ 0 w 465600"/>
              <a:gd name="connsiteY6" fmla="*/ 6104399 h 657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0" h="6570001">
                <a:moveTo>
                  <a:pt x="0" y="0"/>
                </a:moveTo>
                <a:lnTo>
                  <a:pt x="465600" y="0"/>
                </a:lnTo>
                <a:lnTo>
                  <a:pt x="465600" y="6104399"/>
                </a:lnTo>
                <a:lnTo>
                  <a:pt x="465599" y="6104399"/>
                </a:lnTo>
                <a:lnTo>
                  <a:pt x="1" y="6570001"/>
                </a:lnTo>
                <a:lnTo>
                  <a:pt x="1" y="6104399"/>
                </a:lnTo>
                <a:lnTo>
                  <a:pt x="0" y="6104399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85000">
                <a:srgbClr val="F5F5F5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Freeform: Shape 36">
            <a:extLst>
              <a:ext uri="{FF2B5EF4-FFF2-40B4-BE49-F238E27FC236}">
                <a16:creationId xmlns:a16="http://schemas.microsoft.com/office/drawing/2014/main" id="{CEF72461-8578-85AC-0AE4-35B34DC15687}"/>
              </a:ext>
            </a:extLst>
          </p:cNvPr>
          <p:cNvSpPr/>
          <p:nvPr/>
        </p:nvSpPr>
        <p:spPr>
          <a:xfrm rot="5400000">
            <a:off x="5863199" y="-5594685"/>
            <a:ext cx="465603" cy="11904000"/>
          </a:xfrm>
          <a:custGeom>
            <a:avLst/>
            <a:gdLst>
              <a:gd name="connsiteX0" fmla="*/ 465601 w 465603"/>
              <a:gd name="connsiteY0" fmla="*/ 465600 h 11904000"/>
              <a:gd name="connsiteX1" fmla="*/ 465600 w 465603"/>
              <a:gd name="connsiteY1" fmla="*/ 11904000 h 11904000"/>
              <a:gd name="connsiteX2" fmla="*/ 0 w 465603"/>
              <a:gd name="connsiteY2" fmla="*/ 11904000 h 11904000"/>
              <a:gd name="connsiteX3" fmla="*/ 0 w 465603"/>
              <a:gd name="connsiteY3" fmla="*/ 465600 h 11904000"/>
              <a:gd name="connsiteX4" fmla="*/ 465603 w 465603"/>
              <a:gd name="connsiteY4" fmla="*/ 465599 h 11904000"/>
              <a:gd name="connsiteX5" fmla="*/ 1 w 465603"/>
              <a:gd name="connsiteY5" fmla="*/ 465599 h 11904000"/>
              <a:gd name="connsiteX6" fmla="*/ 1 w 465603"/>
              <a:gd name="connsiteY6" fmla="*/ 0 h 119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3" h="11904000">
                <a:moveTo>
                  <a:pt x="465601" y="465600"/>
                </a:moveTo>
                <a:lnTo>
                  <a:pt x="465600" y="11904000"/>
                </a:lnTo>
                <a:lnTo>
                  <a:pt x="0" y="11904000"/>
                </a:lnTo>
                <a:lnTo>
                  <a:pt x="0" y="465600"/>
                </a:lnTo>
                <a:close/>
                <a:moveTo>
                  <a:pt x="465603" y="465599"/>
                </a:moveTo>
                <a:lnTo>
                  <a:pt x="1" y="465599"/>
                </a:lnTo>
                <a:lnTo>
                  <a:pt x="1" y="0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100000">
                <a:srgbClr val="F5F5F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0E64D-CF1A-6CE3-A3A5-4B1BC3C42740}"/>
              </a:ext>
            </a:extLst>
          </p:cNvPr>
          <p:cNvSpPr txBox="1"/>
          <p:nvPr/>
        </p:nvSpPr>
        <p:spPr>
          <a:xfrm flipH="1">
            <a:off x="143999" y="535900"/>
            <a:ext cx="495593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4000" dirty="0">
                <a:latin typeface="Times New Roman" panose="02020603050405020304" pitchFamily="18" charset="0"/>
              </a:rPr>
              <a:t>वै</a:t>
            </a:r>
            <a:endParaRPr lang="en-US" sz="4000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मा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नि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का</a:t>
            </a:r>
            <a:r>
              <a:rPr lang="en-US" dirty="0">
                <a:latin typeface="Times New Roman" panose="02020603050405020304" pitchFamily="18" charset="0"/>
              </a:rPr>
              <a:t>: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DFD77-AB84-D5F2-A47E-E810B51E5663}"/>
              </a:ext>
            </a:extLst>
          </p:cNvPr>
          <p:cNvSpPr txBox="1"/>
          <p:nvPr/>
        </p:nvSpPr>
        <p:spPr>
          <a:xfrm flipH="1">
            <a:off x="864811" y="6206022"/>
            <a:ext cx="10224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ERONAUTICAL</a:t>
            </a:r>
            <a:r>
              <a:rPr lang="en-US" sz="2000" b="1" spc="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NGINEERING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EPARTMENT,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PCE</a:t>
            </a:r>
            <a:endParaRPr lang="en-IN" sz="2000" b="1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6F0974-317D-7EE3-C4A7-5850E169AEC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11237" y="6049926"/>
            <a:ext cx="961417" cy="6714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85216" y="732782"/>
            <a:ext cx="110215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1738648" y="1635617"/>
            <a:ext cx="794626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Deepfake detection is improving</a:t>
            </a:r>
            <a:r>
              <a:rPr lang="en-US" dirty="0"/>
              <a:t>, but some </a:t>
            </a:r>
            <a:r>
              <a:rPr lang="en-US" b="1" dirty="0"/>
              <a:t>very advanced deepfakes are still hard to catch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Scientists are working on better AI models</a:t>
            </a:r>
            <a:r>
              <a:rPr lang="en-US" dirty="0"/>
              <a:t> that can detect deepfakes more accurately.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Many researchers are using different neural networks</a:t>
            </a:r>
            <a:r>
              <a:rPr lang="en-US" dirty="0"/>
              <a:t> to improve deepfake detection.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There is a need for easy-to-use tools</a:t>
            </a:r>
            <a:r>
              <a:rPr lang="en-US" dirty="0"/>
              <a:t> so that </a:t>
            </a:r>
            <a:r>
              <a:rPr lang="en-US" b="1" dirty="0"/>
              <a:t>everyone</a:t>
            </a:r>
            <a:r>
              <a:rPr lang="en-US" dirty="0"/>
              <a:t> can check if a video is real or fake.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9A3A035-DDA2-FB0E-4248-547B03F84519}"/>
              </a:ext>
            </a:extLst>
          </p:cNvPr>
          <p:cNvGrpSpPr/>
          <p:nvPr/>
        </p:nvGrpSpPr>
        <p:grpSpPr>
          <a:xfrm>
            <a:off x="144000" y="117185"/>
            <a:ext cx="11933993" cy="6593151"/>
            <a:chOff x="144000" y="136090"/>
            <a:chExt cx="11933993" cy="6593151"/>
          </a:xfrm>
        </p:grpSpPr>
        <p:sp>
          <p:nvSpPr>
            <p:cNvPr id="3" name="Freeform: Shape 26">
              <a:extLst>
                <a:ext uri="{FF2B5EF4-FFF2-40B4-BE49-F238E27FC236}">
                  <a16:creationId xmlns:a16="http://schemas.microsoft.com/office/drawing/2014/main" id="{F3E990C2-E823-0B85-C4E4-07E447BFB0BD}"/>
                </a:ext>
              </a:extLst>
            </p:cNvPr>
            <p:cNvSpPr/>
            <p:nvPr/>
          </p:nvSpPr>
          <p:spPr>
            <a:xfrm>
              <a:off x="144000" y="136090"/>
              <a:ext cx="465600" cy="6570001"/>
            </a:xfrm>
            <a:custGeom>
              <a:avLst/>
              <a:gdLst>
                <a:gd name="connsiteX0" fmla="*/ 0 w 465600"/>
                <a:gd name="connsiteY0" fmla="*/ 0 h 6570001"/>
                <a:gd name="connsiteX1" fmla="*/ 465600 w 465600"/>
                <a:gd name="connsiteY1" fmla="*/ 0 h 6570001"/>
                <a:gd name="connsiteX2" fmla="*/ 465600 w 465600"/>
                <a:gd name="connsiteY2" fmla="*/ 6104399 h 6570001"/>
                <a:gd name="connsiteX3" fmla="*/ 465599 w 465600"/>
                <a:gd name="connsiteY3" fmla="*/ 6104399 h 6570001"/>
                <a:gd name="connsiteX4" fmla="*/ 1 w 465600"/>
                <a:gd name="connsiteY4" fmla="*/ 6570001 h 6570001"/>
                <a:gd name="connsiteX5" fmla="*/ 1 w 465600"/>
                <a:gd name="connsiteY5" fmla="*/ 6104399 h 6570001"/>
                <a:gd name="connsiteX6" fmla="*/ 0 w 465600"/>
                <a:gd name="connsiteY6" fmla="*/ 6104399 h 657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0" h="6570001">
                  <a:moveTo>
                    <a:pt x="0" y="0"/>
                  </a:moveTo>
                  <a:lnTo>
                    <a:pt x="465600" y="0"/>
                  </a:lnTo>
                  <a:lnTo>
                    <a:pt x="465600" y="6104399"/>
                  </a:lnTo>
                  <a:lnTo>
                    <a:pt x="465599" y="6104399"/>
                  </a:lnTo>
                  <a:lnTo>
                    <a:pt x="1" y="6570001"/>
                  </a:lnTo>
                  <a:lnTo>
                    <a:pt x="1" y="6104399"/>
                  </a:lnTo>
                  <a:lnTo>
                    <a:pt x="0" y="610439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85000">
                  <a:srgbClr val="F5F5F5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" name="Freeform: Shape 25">
              <a:extLst>
                <a:ext uri="{FF2B5EF4-FFF2-40B4-BE49-F238E27FC236}">
                  <a16:creationId xmlns:a16="http://schemas.microsoft.com/office/drawing/2014/main" id="{8EB9ED79-F6D8-7A13-8672-86E099FE41DF}"/>
                </a:ext>
              </a:extLst>
            </p:cNvPr>
            <p:cNvSpPr/>
            <p:nvPr/>
          </p:nvSpPr>
          <p:spPr>
            <a:xfrm rot="16200000">
              <a:off x="5893191" y="544440"/>
              <a:ext cx="465603" cy="11904000"/>
            </a:xfrm>
            <a:custGeom>
              <a:avLst/>
              <a:gdLst>
                <a:gd name="connsiteX0" fmla="*/ 465601 w 465603"/>
                <a:gd name="connsiteY0" fmla="*/ 465600 h 11904000"/>
                <a:gd name="connsiteX1" fmla="*/ 465600 w 465603"/>
                <a:gd name="connsiteY1" fmla="*/ 11904000 h 11904000"/>
                <a:gd name="connsiteX2" fmla="*/ 0 w 465603"/>
                <a:gd name="connsiteY2" fmla="*/ 11904000 h 11904000"/>
                <a:gd name="connsiteX3" fmla="*/ 0 w 465603"/>
                <a:gd name="connsiteY3" fmla="*/ 465600 h 11904000"/>
                <a:gd name="connsiteX4" fmla="*/ 465603 w 465603"/>
                <a:gd name="connsiteY4" fmla="*/ 465599 h 11904000"/>
                <a:gd name="connsiteX5" fmla="*/ 1 w 465603"/>
                <a:gd name="connsiteY5" fmla="*/ 465599 h 11904000"/>
                <a:gd name="connsiteX6" fmla="*/ 1 w 465603"/>
                <a:gd name="connsiteY6" fmla="*/ 0 h 119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3" h="11904000">
                  <a:moveTo>
                    <a:pt x="465601" y="465600"/>
                  </a:moveTo>
                  <a:lnTo>
                    <a:pt x="465600" y="11904000"/>
                  </a:lnTo>
                  <a:lnTo>
                    <a:pt x="0" y="11904000"/>
                  </a:lnTo>
                  <a:lnTo>
                    <a:pt x="0" y="465600"/>
                  </a:lnTo>
                  <a:close/>
                  <a:moveTo>
                    <a:pt x="465603" y="465599"/>
                  </a:moveTo>
                  <a:lnTo>
                    <a:pt x="1" y="465599"/>
                  </a:lnTo>
                  <a:lnTo>
                    <a:pt x="1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100000">
                  <a:srgbClr val="F5F5F5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5" name="Freeform: Shape 35">
            <a:extLst>
              <a:ext uri="{FF2B5EF4-FFF2-40B4-BE49-F238E27FC236}">
                <a16:creationId xmlns:a16="http://schemas.microsoft.com/office/drawing/2014/main" id="{04525F12-B83B-4DF6-4F49-588AABC53BDC}"/>
              </a:ext>
            </a:extLst>
          </p:cNvPr>
          <p:cNvSpPr/>
          <p:nvPr/>
        </p:nvSpPr>
        <p:spPr>
          <a:xfrm rot="10800000">
            <a:off x="11612393" y="147664"/>
            <a:ext cx="465600" cy="6570001"/>
          </a:xfrm>
          <a:custGeom>
            <a:avLst/>
            <a:gdLst>
              <a:gd name="connsiteX0" fmla="*/ 0 w 465600"/>
              <a:gd name="connsiteY0" fmla="*/ 0 h 6570001"/>
              <a:gd name="connsiteX1" fmla="*/ 465600 w 465600"/>
              <a:gd name="connsiteY1" fmla="*/ 0 h 6570001"/>
              <a:gd name="connsiteX2" fmla="*/ 465600 w 465600"/>
              <a:gd name="connsiteY2" fmla="*/ 6104399 h 6570001"/>
              <a:gd name="connsiteX3" fmla="*/ 465599 w 465600"/>
              <a:gd name="connsiteY3" fmla="*/ 6104399 h 6570001"/>
              <a:gd name="connsiteX4" fmla="*/ 1 w 465600"/>
              <a:gd name="connsiteY4" fmla="*/ 6570001 h 6570001"/>
              <a:gd name="connsiteX5" fmla="*/ 1 w 465600"/>
              <a:gd name="connsiteY5" fmla="*/ 6104399 h 6570001"/>
              <a:gd name="connsiteX6" fmla="*/ 0 w 465600"/>
              <a:gd name="connsiteY6" fmla="*/ 6104399 h 657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0" h="6570001">
                <a:moveTo>
                  <a:pt x="0" y="0"/>
                </a:moveTo>
                <a:lnTo>
                  <a:pt x="465600" y="0"/>
                </a:lnTo>
                <a:lnTo>
                  <a:pt x="465600" y="6104399"/>
                </a:lnTo>
                <a:lnTo>
                  <a:pt x="465599" y="6104399"/>
                </a:lnTo>
                <a:lnTo>
                  <a:pt x="1" y="6570001"/>
                </a:lnTo>
                <a:lnTo>
                  <a:pt x="1" y="6104399"/>
                </a:lnTo>
                <a:lnTo>
                  <a:pt x="0" y="6104399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85000">
                <a:srgbClr val="F5F5F5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Freeform: Shape 36">
            <a:extLst>
              <a:ext uri="{FF2B5EF4-FFF2-40B4-BE49-F238E27FC236}">
                <a16:creationId xmlns:a16="http://schemas.microsoft.com/office/drawing/2014/main" id="{CEF72461-8578-85AC-0AE4-35B34DC15687}"/>
              </a:ext>
            </a:extLst>
          </p:cNvPr>
          <p:cNvSpPr/>
          <p:nvPr/>
        </p:nvSpPr>
        <p:spPr>
          <a:xfrm rot="5400000">
            <a:off x="5863199" y="-5594685"/>
            <a:ext cx="465603" cy="11904000"/>
          </a:xfrm>
          <a:custGeom>
            <a:avLst/>
            <a:gdLst>
              <a:gd name="connsiteX0" fmla="*/ 465601 w 465603"/>
              <a:gd name="connsiteY0" fmla="*/ 465600 h 11904000"/>
              <a:gd name="connsiteX1" fmla="*/ 465600 w 465603"/>
              <a:gd name="connsiteY1" fmla="*/ 11904000 h 11904000"/>
              <a:gd name="connsiteX2" fmla="*/ 0 w 465603"/>
              <a:gd name="connsiteY2" fmla="*/ 11904000 h 11904000"/>
              <a:gd name="connsiteX3" fmla="*/ 0 w 465603"/>
              <a:gd name="connsiteY3" fmla="*/ 465600 h 11904000"/>
              <a:gd name="connsiteX4" fmla="*/ 465603 w 465603"/>
              <a:gd name="connsiteY4" fmla="*/ 465599 h 11904000"/>
              <a:gd name="connsiteX5" fmla="*/ 1 w 465603"/>
              <a:gd name="connsiteY5" fmla="*/ 465599 h 11904000"/>
              <a:gd name="connsiteX6" fmla="*/ 1 w 465603"/>
              <a:gd name="connsiteY6" fmla="*/ 0 h 119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3" h="11904000">
                <a:moveTo>
                  <a:pt x="465601" y="465600"/>
                </a:moveTo>
                <a:lnTo>
                  <a:pt x="465600" y="11904000"/>
                </a:lnTo>
                <a:lnTo>
                  <a:pt x="0" y="11904000"/>
                </a:lnTo>
                <a:lnTo>
                  <a:pt x="0" y="465600"/>
                </a:lnTo>
                <a:close/>
                <a:moveTo>
                  <a:pt x="465603" y="465599"/>
                </a:moveTo>
                <a:lnTo>
                  <a:pt x="1" y="465599"/>
                </a:lnTo>
                <a:lnTo>
                  <a:pt x="1" y="0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100000">
                <a:srgbClr val="F5F5F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0E64D-CF1A-6CE3-A3A5-4B1BC3C42740}"/>
              </a:ext>
            </a:extLst>
          </p:cNvPr>
          <p:cNvSpPr txBox="1"/>
          <p:nvPr/>
        </p:nvSpPr>
        <p:spPr>
          <a:xfrm flipH="1">
            <a:off x="143999" y="535900"/>
            <a:ext cx="495593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4000" dirty="0">
                <a:latin typeface="Times New Roman" panose="02020603050405020304" pitchFamily="18" charset="0"/>
              </a:rPr>
              <a:t>वै</a:t>
            </a:r>
            <a:endParaRPr lang="en-US" sz="4000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मा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नि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का</a:t>
            </a:r>
            <a:r>
              <a:rPr lang="en-US" dirty="0">
                <a:latin typeface="Times New Roman" panose="02020603050405020304" pitchFamily="18" charset="0"/>
              </a:rPr>
              <a:t>: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DFD77-AB84-D5F2-A47E-E810B51E5663}"/>
              </a:ext>
            </a:extLst>
          </p:cNvPr>
          <p:cNvSpPr txBox="1"/>
          <p:nvPr/>
        </p:nvSpPr>
        <p:spPr>
          <a:xfrm flipH="1">
            <a:off x="864811" y="6206022"/>
            <a:ext cx="10224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ERONAUTICAL</a:t>
            </a:r>
            <a:r>
              <a:rPr lang="en-US" sz="2000" b="1" spc="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NGINEERING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EPARTMENT,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PCE</a:t>
            </a:r>
            <a:endParaRPr lang="en-IN" sz="2000" b="1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6F0974-317D-7EE3-C4A7-5850E169AEC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11237" y="6049926"/>
            <a:ext cx="961417" cy="6714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85216" y="732782"/>
            <a:ext cx="110215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/>
          </a:p>
        </p:txBody>
      </p:sp>
      <p:sp>
        <p:nvSpPr>
          <p:cNvPr id="11" name="Text Box 10"/>
          <p:cNvSpPr txBox="1"/>
          <p:nvPr/>
        </p:nvSpPr>
        <p:spPr>
          <a:xfrm>
            <a:off x="1182623" y="2188464"/>
            <a:ext cx="976579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b="1" dirty="0"/>
              <a:t>Deepfake videos are a growing problem</a:t>
            </a:r>
            <a:r>
              <a:rPr lang="en-US" sz="2000" dirty="0"/>
              <a:t>, and detecting them is challenging.</a:t>
            </a:r>
          </a:p>
          <a:p>
            <a:endParaRPr lang="en-US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b="1" dirty="0"/>
              <a:t>AI-powered models</a:t>
            </a:r>
            <a:r>
              <a:rPr lang="en-US" sz="2000" dirty="0"/>
              <a:t> can help identify fake videos </a:t>
            </a:r>
            <a:r>
              <a:rPr lang="en-US" sz="2000" b="1" dirty="0"/>
              <a:t>with high accuracy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/>
              <a:t>Our approach using CNNs and EfficientNetB4 improves detection performance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/>
              <a:t>Detection is improving, but deepfakes are also getting better</a:t>
            </a:r>
            <a:r>
              <a:rPr lang="en-US" sz="2000" dirty="0"/>
              <a:t>, so research must continue.</a:t>
            </a:r>
            <a:br>
              <a:rPr lang="en-US" sz="2000" dirty="0"/>
            </a:br>
            <a:r>
              <a:rPr lang="en-US" sz="20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/>
              <a:t>Future Goal:</a:t>
            </a:r>
            <a:r>
              <a:rPr lang="en-US" sz="2000" dirty="0"/>
              <a:t> Develop </a:t>
            </a:r>
            <a:r>
              <a:rPr lang="en-US" sz="2000" b="1" dirty="0"/>
              <a:t>faster, more reliable, and user-friendly detection tools</a:t>
            </a:r>
            <a:r>
              <a:rPr lang="en-US" sz="2000" dirty="0"/>
              <a:t> for everyone.</a:t>
            </a: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9A3A035-DDA2-FB0E-4248-547B03F84519}"/>
              </a:ext>
            </a:extLst>
          </p:cNvPr>
          <p:cNvGrpSpPr/>
          <p:nvPr/>
        </p:nvGrpSpPr>
        <p:grpSpPr>
          <a:xfrm>
            <a:off x="144000" y="117185"/>
            <a:ext cx="11933993" cy="6593151"/>
            <a:chOff x="144000" y="136090"/>
            <a:chExt cx="11933993" cy="6593151"/>
          </a:xfrm>
        </p:grpSpPr>
        <p:sp>
          <p:nvSpPr>
            <p:cNvPr id="3" name="Freeform: Shape 26">
              <a:extLst>
                <a:ext uri="{FF2B5EF4-FFF2-40B4-BE49-F238E27FC236}">
                  <a16:creationId xmlns:a16="http://schemas.microsoft.com/office/drawing/2014/main" id="{F3E990C2-E823-0B85-C4E4-07E447BFB0BD}"/>
                </a:ext>
              </a:extLst>
            </p:cNvPr>
            <p:cNvSpPr/>
            <p:nvPr/>
          </p:nvSpPr>
          <p:spPr>
            <a:xfrm>
              <a:off x="144000" y="136090"/>
              <a:ext cx="465600" cy="6570001"/>
            </a:xfrm>
            <a:custGeom>
              <a:avLst/>
              <a:gdLst>
                <a:gd name="connsiteX0" fmla="*/ 0 w 465600"/>
                <a:gd name="connsiteY0" fmla="*/ 0 h 6570001"/>
                <a:gd name="connsiteX1" fmla="*/ 465600 w 465600"/>
                <a:gd name="connsiteY1" fmla="*/ 0 h 6570001"/>
                <a:gd name="connsiteX2" fmla="*/ 465600 w 465600"/>
                <a:gd name="connsiteY2" fmla="*/ 6104399 h 6570001"/>
                <a:gd name="connsiteX3" fmla="*/ 465599 w 465600"/>
                <a:gd name="connsiteY3" fmla="*/ 6104399 h 6570001"/>
                <a:gd name="connsiteX4" fmla="*/ 1 w 465600"/>
                <a:gd name="connsiteY4" fmla="*/ 6570001 h 6570001"/>
                <a:gd name="connsiteX5" fmla="*/ 1 w 465600"/>
                <a:gd name="connsiteY5" fmla="*/ 6104399 h 6570001"/>
                <a:gd name="connsiteX6" fmla="*/ 0 w 465600"/>
                <a:gd name="connsiteY6" fmla="*/ 6104399 h 657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0" h="6570001">
                  <a:moveTo>
                    <a:pt x="0" y="0"/>
                  </a:moveTo>
                  <a:lnTo>
                    <a:pt x="465600" y="0"/>
                  </a:lnTo>
                  <a:lnTo>
                    <a:pt x="465600" y="6104399"/>
                  </a:lnTo>
                  <a:lnTo>
                    <a:pt x="465599" y="6104399"/>
                  </a:lnTo>
                  <a:lnTo>
                    <a:pt x="1" y="6570001"/>
                  </a:lnTo>
                  <a:lnTo>
                    <a:pt x="1" y="6104399"/>
                  </a:lnTo>
                  <a:lnTo>
                    <a:pt x="0" y="610439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85000">
                  <a:srgbClr val="F5F5F5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" name="Freeform: Shape 25">
              <a:extLst>
                <a:ext uri="{FF2B5EF4-FFF2-40B4-BE49-F238E27FC236}">
                  <a16:creationId xmlns:a16="http://schemas.microsoft.com/office/drawing/2014/main" id="{8EB9ED79-F6D8-7A13-8672-86E099FE41DF}"/>
                </a:ext>
              </a:extLst>
            </p:cNvPr>
            <p:cNvSpPr/>
            <p:nvPr/>
          </p:nvSpPr>
          <p:spPr>
            <a:xfrm rot="16200000">
              <a:off x="5893191" y="544440"/>
              <a:ext cx="465603" cy="11904000"/>
            </a:xfrm>
            <a:custGeom>
              <a:avLst/>
              <a:gdLst>
                <a:gd name="connsiteX0" fmla="*/ 465601 w 465603"/>
                <a:gd name="connsiteY0" fmla="*/ 465600 h 11904000"/>
                <a:gd name="connsiteX1" fmla="*/ 465600 w 465603"/>
                <a:gd name="connsiteY1" fmla="*/ 11904000 h 11904000"/>
                <a:gd name="connsiteX2" fmla="*/ 0 w 465603"/>
                <a:gd name="connsiteY2" fmla="*/ 11904000 h 11904000"/>
                <a:gd name="connsiteX3" fmla="*/ 0 w 465603"/>
                <a:gd name="connsiteY3" fmla="*/ 465600 h 11904000"/>
                <a:gd name="connsiteX4" fmla="*/ 465603 w 465603"/>
                <a:gd name="connsiteY4" fmla="*/ 465599 h 11904000"/>
                <a:gd name="connsiteX5" fmla="*/ 1 w 465603"/>
                <a:gd name="connsiteY5" fmla="*/ 465599 h 11904000"/>
                <a:gd name="connsiteX6" fmla="*/ 1 w 465603"/>
                <a:gd name="connsiteY6" fmla="*/ 0 h 119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3" h="11904000">
                  <a:moveTo>
                    <a:pt x="465601" y="465600"/>
                  </a:moveTo>
                  <a:lnTo>
                    <a:pt x="465600" y="11904000"/>
                  </a:lnTo>
                  <a:lnTo>
                    <a:pt x="0" y="11904000"/>
                  </a:lnTo>
                  <a:lnTo>
                    <a:pt x="0" y="465600"/>
                  </a:lnTo>
                  <a:close/>
                  <a:moveTo>
                    <a:pt x="465603" y="465599"/>
                  </a:moveTo>
                  <a:lnTo>
                    <a:pt x="1" y="465599"/>
                  </a:lnTo>
                  <a:lnTo>
                    <a:pt x="1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100000">
                  <a:srgbClr val="F5F5F5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5" name="Freeform: Shape 35">
            <a:extLst>
              <a:ext uri="{FF2B5EF4-FFF2-40B4-BE49-F238E27FC236}">
                <a16:creationId xmlns:a16="http://schemas.microsoft.com/office/drawing/2014/main" id="{04525F12-B83B-4DF6-4F49-588AABC53BDC}"/>
              </a:ext>
            </a:extLst>
          </p:cNvPr>
          <p:cNvSpPr/>
          <p:nvPr/>
        </p:nvSpPr>
        <p:spPr>
          <a:xfrm rot="10800000">
            <a:off x="11612393" y="147664"/>
            <a:ext cx="465600" cy="6570001"/>
          </a:xfrm>
          <a:custGeom>
            <a:avLst/>
            <a:gdLst>
              <a:gd name="connsiteX0" fmla="*/ 0 w 465600"/>
              <a:gd name="connsiteY0" fmla="*/ 0 h 6570001"/>
              <a:gd name="connsiteX1" fmla="*/ 465600 w 465600"/>
              <a:gd name="connsiteY1" fmla="*/ 0 h 6570001"/>
              <a:gd name="connsiteX2" fmla="*/ 465600 w 465600"/>
              <a:gd name="connsiteY2" fmla="*/ 6104399 h 6570001"/>
              <a:gd name="connsiteX3" fmla="*/ 465599 w 465600"/>
              <a:gd name="connsiteY3" fmla="*/ 6104399 h 6570001"/>
              <a:gd name="connsiteX4" fmla="*/ 1 w 465600"/>
              <a:gd name="connsiteY4" fmla="*/ 6570001 h 6570001"/>
              <a:gd name="connsiteX5" fmla="*/ 1 w 465600"/>
              <a:gd name="connsiteY5" fmla="*/ 6104399 h 6570001"/>
              <a:gd name="connsiteX6" fmla="*/ 0 w 465600"/>
              <a:gd name="connsiteY6" fmla="*/ 6104399 h 657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0" h="6570001">
                <a:moveTo>
                  <a:pt x="0" y="0"/>
                </a:moveTo>
                <a:lnTo>
                  <a:pt x="465600" y="0"/>
                </a:lnTo>
                <a:lnTo>
                  <a:pt x="465600" y="6104399"/>
                </a:lnTo>
                <a:lnTo>
                  <a:pt x="465599" y="6104399"/>
                </a:lnTo>
                <a:lnTo>
                  <a:pt x="1" y="6570001"/>
                </a:lnTo>
                <a:lnTo>
                  <a:pt x="1" y="6104399"/>
                </a:lnTo>
                <a:lnTo>
                  <a:pt x="0" y="6104399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85000">
                <a:srgbClr val="F5F5F5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Freeform: Shape 36">
            <a:extLst>
              <a:ext uri="{FF2B5EF4-FFF2-40B4-BE49-F238E27FC236}">
                <a16:creationId xmlns:a16="http://schemas.microsoft.com/office/drawing/2014/main" id="{CEF72461-8578-85AC-0AE4-35B34DC15687}"/>
              </a:ext>
            </a:extLst>
          </p:cNvPr>
          <p:cNvSpPr/>
          <p:nvPr/>
        </p:nvSpPr>
        <p:spPr>
          <a:xfrm rot="5400000">
            <a:off x="5863199" y="-5594685"/>
            <a:ext cx="465603" cy="11904000"/>
          </a:xfrm>
          <a:custGeom>
            <a:avLst/>
            <a:gdLst>
              <a:gd name="connsiteX0" fmla="*/ 465601 w 465603"/>
              <a:gd name="connsiteY0" fmla="*/ 465600 h 11904000"/>
              <a:gd name="connsiteX1" fmla="*/ 465600 w 465603"/>
              <a:gd name="connsiteY1" fmla="*/ 11904000 h 11904000"/>
              <a:gd name="connsiteX2" fmla="*/ 0 w 465603"/>
              <a:gd name="connsiteY2" fmla="*/ 11904000 h 11904000"/>
              <a:gd name="connsiteX3" fmla="*/ 0 w 465603"/>
              <a:gd name="connsiteY3" fmla="*/ 465600 h 11904000"/>
              <a:gd name="connsiteX4" fmla="*/ 465603 w 465603"/>
              <a:gd name="connsiteY4" fmla="*/ 465599 h 11904000"/>
              <a:gd name="connsiteX5" fmla="*/ 1 w 465603"/>
              <a:gd name="connsiteY5" fmla="*/ 465599 h 11904000"/>
              <a:gd name="connsiteX6" fmla="*/ 1 w 465603"/>
              <a:gd name="connsiteY6" fmla="*/ 0 h 119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3" h="11904000">
                <a:moveTo>
                  <a:pt x="465601" y="465600"/>
                </a:moveTo>
                <a:lnTo>
                  <a:pt x="465600" y="11904000"/>
                </a:lnTo>
                <a:lnTo>
                  <a:pt x="0" y="11904000"/>
                </a:lnTo>
                <a:lnTo>
                  <a:pt x="0" y="465600"/>
                </a:lnTo>
                <a:close/>
                <a:moveTo>
                  <a:pt x="465603" y="465599"/>
                </a:moveTo>
                <a:lnTo>
                  <a:pt x="1" y="465599"/>
                </a:lnTo>
                <a:lnTo>
                  <a:pt x="1" y="0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100000">
                <a:srgbClr val="F5F5F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0E64D-CF1A-6CE3-A3A5-4B1BC3C42740}"/>
              </a:ext>
            </a:extLst>
          </p:cNvPr>
          <p:cNvSpPr txBox="1"/>
          <p:nvPr/>
        </p:nvSpPr>
        <p:spPr>
          <a:xfrm flipH="1">
            <a:off x="143999" y="535900"/>
            <a:ext cx="495593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4000" dirty="0">
                <a:latin typeface="Times New Roman" panose="02020603050405020304" pitchFamily="18" charset="0"/>
              </a:rPr>
              <a:t>वै</a:t>
            </a:r>
            <a:endParaRPr lang="en-US" sz="4000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मा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नि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का</a:t>
            </a:r>
            <a:r>
              <a:rPr lang="en-US" dirty="0">
                <a:latin typeface="Times New Roman" panose="02020603050405020304" pitchFamily="18" charset="0"/>
              </a:rPr>
              <a:t>: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DFD77-AB84-D5F2-A47E-E810B51E5663}"/>
              </a:ext>
            </a:extLst>
          </p:cNvPr>
          <p:cNvSpPr txBox="1"/>
          <p:nvPr/>
        </p:nvSpPr>
        <p:spPr>
          <a:xfrm flipH="1">
            <a:off x="864811" y="6206022"/>
            <a:ext cx="10224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ERONAUTICAL</a:t>
            </a:r>
            <a:r>
              <a:rPr lang="en-US" sz="2000" b="1" spc="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NGINEERING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EPARTMENT,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PCE</a:t>
            </a:r>
            <a:endParaRPr lang="en-IN" sz="2000" b="1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6F0974-317D-7EE3-C4A7-5850E169AEC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11237" y="6049926"/>
            <a:ext cx="961417" cy="6714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85216" y="732782"/>
            <a:ext cx="110215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E347920-8CF7-2251-7A9D-9DA1710EA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6359"/>
            <a:ext cx="10515600" cy="4940604"/>
          </a:xfrm>
        </p:spPr>
        <p:txBody>
          <a:bodyPr/>
          <a:lstStyle/>
          <a:p>
            <a:pPr marL="0" indent="0"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are used to extract spatial features from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detect pixel-level inconsistencies, artifacts, and unnatural textures in deepfake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like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Xception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commonly used for deepfake image classification.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help identify manipulated facial features, lighting inconsistencies, and compression artifacts.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Neural Networks (RNNs) – LSTM: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RNNs, specifically LSTMs, are used for temporal analysis in deepfake videos.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frame-by-frame inconsistencies, such as unnatural facial expressions and lip-sync errors.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LSTMs capture sequential dependencies and detect anomalies in motion patterns.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enhance deepfake detection by learning temporal patterns across multiple frames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0EEBA-CADC-9091-B7FF-C0396910D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206CFBC-7EBB-FB98-6B4C-F1B10A1AEA57}"/>
              </a:ext>
            </a:extLst>
          </p:cNvPr>
          <p:cNvGrpSpPr/>
          <p:nvPr/>
        </p:nvGrpSpPr>
        <p:grpSpPr>
          <a:xfrm>
            <a:off x="144000" y="117185"/>
            <a:ext cx="11933993" cy="6593151"/>
            <a:chOff x="144000" y="136090"/>
            <a:chExt cx="11933993" cy="6593151"/>
          </a:xfrm>
        </p:grpSpPr>
        <p:sp>
          <p:nvSpPr>
            <p:cNvPr id="3" name="Freeform: Shape 26">
              <a:extLst>
                <a:ext uri="{FF2B5EF4-FFF2-40B4-BE49-F238E27FC236}">
                  <a16:creationId xmlns:a16="http://schemas.microsoft.com/office/drawing/2014/main" id="{5999A91A-F42E-4E1D-7EBB-AD6A9180A9EE}"/>
                </a:ext>
              </a:extLst>
            </p:cNvPr>
            <p:cNvSpPr/>
            <p:nvPr/>
          </p:nvSpPr>
          <p:spPr>
            <a:xfrm>
              <a:off x="144000" y="136090"/>
              <a:ext cx="465600" cy="6570001"/>
            </a:xfrm>
            <a:custGeom>
              <a:avLst/>
              <a:gdLst>
                <a:gd name="connsiteX0" fmla="*/ 0 w 465600"/>
                <a:gd name="connsiteY0" fmla="*/ 0 h 6570001"/>
                <a:gd name="connsiteX1" fmla="*/ 465600 w 465600"/>
                <a:gd name="connsiteY1" fmla="*/ 0 h 6570001"/>
                <a:gd name="connsiteX2" fmla="*/ 465600 w 465600"/>
                <a:gd name="connsiteY2" fmla="*/ 6104399 h 6570001"/>
                <a:gd name="connsiteX3" fmla="*/ 465599 w 465600"/>
                <a:gd name="connsiteY3" fmla="*/ 6104399 h 6570001"/>
                <a:gd name="connsiteX4" fmla="*/ 1 w 465600"/>
                <a:gd name="connsiteY4" fmla="*/ 6570001 h 6570001"/>
                <a:gd name="connsiteX5" fmla="*/ 1 w 465600"/>
                <a:gd name="connsiteY5" fmla="*/ 6104399 h 6570001"/>
                <a:gd name="connsiteX6" fmla="*/ 0 w 465600"/>
                <a:gd name="connsiteY6" fmla="*/ 6104399 h 657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0" h="6570001">
                  <a:moveTo>
                    <a:pt x="0" y="0"/>
                  </a:moveTo>
                  <a:lnTo>
                    <a:pt x="465600" y="0"/>
                  </a:lnTo>
                  <a:lnTo>
                    <a:pt x="465600" y="6104399"/>
                  </a:lnTo>
                  <a:lnTo>
                    <a:pt x="465599" y="6104399"/>
                  </a:lnTo>
                  <a:lnTo>
                    <a:pt x="1" y="6570001"/>
                  </a:lnTo>
                  <a:lnTo>
                    <a:pt x="1" y="6104399"/>
                  </a:lnTo>
                  <a:lnTo>
                    <a:pt x="0" y="610439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85000">
                  <a:srgbClr val="F5F5F5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" name="Freeform: Shape 25">
              <a:extLst>
                <a:ext uri="{FF2B5EF4-FFF2-40B4-BE49-F238E27FC236}">
                  <a16:creationId xmlns:a16="http://schemas.microsoft.com/office/drawing/2014/main" id="{F9BA0A97-96DC-59EB-9797-D588F603F5C0}"/>
                </a:ext>
              </a:extLst>
            </p:cNvPr>
            <p:cNvSpPr/>
            <p:nvPr/>
          </p:nvSpPr>
          <p:spPr>
            <a:xfrm rot="16200000">
              <a:off x="5893191" y="544440"/>
              <a:ext cx="465603" cy="11904000"/>
            </a:xfrm>
            <a:custGeom>
              <a:avLst/>
              <a:gdLst>
                <a:gd name="connsiteX0" fmla="*/ 465601 w 465603"/>
                <a:gd name="connsiteY0" fmla="*/ 465600 h 11904000"/>
                <a:gd name="connsiteX1" fmla="*/ 465600 w 465603"/>
                <a:gd name="connsiteY1" fmla="*/ 11904000 h 11904000"/>
                <a:gd name="connsiteX2" fmla="*/ 0 w 465603"/>
                <a:gd name="connsiteY2" fmla="*/ 11904000 h 11904000"/>
                <a:gd name="connsiteX3" fmla="*/ 0 w 465603"/>
                <a:gd name="connsiteY3" fmla="*/ 465600 h 11904000"/>
                <a:gd name="connsiteX4" fmla="*/ 465603 w 465603"/>
                <a:gd name="connsiteY4" fmla="*/ 465599 h 11904000"/>
                <a:gd name="connsiteX5" fmla="*/ 1 w 465603"/>
                <a:gd name="connsiteY5" fmla="*/ 465599 h 11904000"/>
                <a:gd name="connsiteX6" fmla="*/ 1 w 465603"/>
                <a:gd name="connsiteY6" fmla="*/ 0 h 119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3" h="11904000">
                  <a:moveTo>
                    <a:pt x="465601" y="465600"/>
                  </a:moveTo>
                  <a:lnTo>
                    <a:pt x="465600" y="11904000"/>
                  </a:lnTo>
                  <a:lnTo>
                    <a:pt x="0" y="11904000"/>
                  </a:lnTo>
                  <a:lnTo>
                    <a:pt x="0" y="465600"/>
                  </a:lnTo>
                  <a:close/>
                  <a:moveTo>
                    <a:pt x="465603" y="465599"/>
                  </a:moveTo>
                  <a:lnTo>
                    <a:pt x="1" y="465599"/>
                  </a:lnTo>
                  <a:lnTo>
                    <a:pt x="1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100000">
                  <a:srgbClr val="F5F5F5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5" name="Freeform: Shape 35">
            <a:extLst>
              <a:ext uri="{FF2B5EF4-FFF2-40B4-BE49-F238E27FC236}">
                <a16:creationId xmlns:a16="http://schemas.microsoft.com/office/drawing/2014/main" id="{55D844C8-9D11-BBCE-5F86-B96A842F613D}"/>
              </a:ext>
            </a:extLst>
          </p:cNvPr>
          <p:cNvSpPr/>
          <p:nvPr/>
        </p:nvSpPr>
        <p:spPr>
          <a:xfrm rot="10800000">
            <a:off x="11612393" y="147664"/>
            <a:ext cx="465600" cy="6570001"/>
          </a:xfrm>
          <a:custGeom>
            <a:avLst/>
            <a:gdLst>
              <a:gd name="connsiteX0" fmla="*/ 0 w 465600"/>
              <a:gd name="connsiteY0" fmla="*/ 0 h 6570001"/>
              <a:gd name="connsiteX1" fmla="*/ 465600 w 465600"/>
              <a:gd name="connsiteY1" fmla="*/ 0 h 6570001"/>
              <a:gd name="connsiteX2" fmla="*/ 465600 w 465600"/>
              <a:gd name="connsiteY2" fmla="*/ 6104399 h 6570001"/>
              <a:gd name="connsiteX3" fmla="*/ 465599 w 465600"/>
              <a:gd name="connsiteY3" fmla="*/ 6104399 h 6570001"/>
              <a:gd name="connsiteX4" fmla="*/ 1 w 465600"/>
              <a:gd name="connsiteY4" fmla="*/ 6570001 h 6570001"/>
              <a:gd name="connsiteX5" fmla="*/ 1 w 465600"/>
              <a:gd name="connsiteY5" fmla="*/ 6104399 h 6570001"/>
              <a:gd name="connsiteX6" fmla="*/ 0 w 465600"/>
              <a:gd name="connsiteY6" fmla="*/ 6104399 h 657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0" h="6570001">
                <a:moveTo>
                  <a:pt x="0" y="0"/>
                </a:moveTo>
                <a:lnTo>
                  <a:pt x="465600" y="0"/>
                </a:lnTo>
                <a:lnTo>
                  <a:pt x="465600" y="6104399"/>
                </a:lnTo>
                <a:lnTo>
                  <a:pt x="465599" y="6104399"/>
                </a:lnTo>
                <a:lnTo>
                  <a:pt x="1" y="6570001"/>
                </a:lnTo>
                <a:lnTo>
                  <a:pt x="1" y="6104399"/>
                </a:lnTo>
                <a:lnTo>
                  <a:pt x="0" y="6104399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85000">
                <a:srgbClr val="F5F5F5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Freeform: Shape 36">
            <a:extLst>
              <a:ext uri="{FF2B5EF4-FFF2-40B4-BE49-F238E27FC236}">
                <a16:creationId xmlns:a16="http://schemas.microsoft.com/office/drawing/2014/main" id="{6A434B85-2B61-221E-BE8D-95A275B96254}"/>
              </a:ext>
            </a:extLst>
          </p:cNvPr>
          <p:cNvSpPr/>
          <p:nvPr/>
        </p:nvSpPr>
        <p:spPr>
          <a:xfrm rot="5400000">
            <a:off x="5863199" y="-5594685"/>
            <a:ext cx="465603" cy="11904000"/>
          </a:xfrm>
          <a:custGeom>
            <a:avLst/>
            <a:gdLst>
              <a:gd name="connsiteX0" fmla="*/ 465601 w 465603"/>
              <a:gd name="connsiteY0" fmla="*/ 465600 h 11904000"/>
              <a:gd name="connsiteX1" fmla="*/ 465600 w 465603"/>
              <a:gd name="connsiteY1" fmla="*/ 11904000 h 11904000"/>
              <a:gd name="connsiteX2" fmla="*/ 0 w 465603"/>
              <a:gd name="connsiteY2" fmla="*/ 11904000 h 11904000"/>
              <a:gd name="connsiteX3" fmla="*/ 0 w 465603"/>
              <a:gd name="connsiteY3" fmla="*/ 465600 h 11904000"/>
              <a:gd name="connsiteX4" fmla="*/ 465603 w 465603"/>
              <a:gd name="connsiteY4" fmla="*/ 465599 h 11904000"/>
              <a:gd name="connsiteX5" fmla="*/ 1 w 465603"/>
              <a:gd name="connsiteY5" fmla="*/ 465599 h 11904000"/>
              <a:gd name="connsiteX6" fmla="*/ 1 w 465603"/>
              <a:gd name="connsiteY6" fmla="*/ 0 h 119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3" h="11904000">
                <a:moveTo>
                  <a:pt x="465601" y="465600"/>
                </a:moveTo>
                <a:lnTo>
                  <a:pt x="465600" y="11904000"/>
                </a:lnTo>
                <a:lnTo>
                  <a:pt x="0" y="11904000"/>
                </a:lnTo>
                <a:lnTo>
                  <a:pt x="0" y="465600"/>
                </a:lnTo>
                <a:close/>
                <a:moveTo>
                  <a:pt x="465603" y="465599"/>
                </a:moveTo>
                <a:lnTo>
                  <a:pt x="1" y="465599"/>
                </a:lnTo>
                <a:lnTo>
                  <a:pt x="1" y="0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100000">
                <a:srgbClr val="F5F5F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D8A7C-237F-470C-EDD8-B2236DEE9451}"/>
              </a:ext>
            </a:extLst>
          </p:cNvPr>
          <p:cNvSpPr txBox="1"/>
          <p:nvPr/>
        </p:nvSpPr>
        <p:spPr>
          <a:xfrm flipH="1">
            <a:off x="143999" y="535900"/>
            <a:ext cx="495593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4000" dirty="0">
                <a:latin typeface="Times New Roman" panose="02020603050405020304" pitchFamily="18" charset="0"/>
              </a:rPr>
              <a:t>वै</a:t>
            </a:r>
            <a:endParaRPr lang="en-US" sz="4000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मा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नि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का</a:t>
            </a:r>
            <a:r>
              <a:rPr lang="en-US" dirty="0">
                <a:latin typeface="Times New Roman" panose="02020603050405020304" pitchFamily="18" charset="0"/>
              </a:rPr>
              <a:t>: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8596D-0FF9-CD18-BF05-3DD7CAC5DECA}"/>
              </a:ext>
            </a:extLst>
          </p:cNvPr>
          <p:cNvSpPr txBox="1"/>
          <p:nvPr/>
        </p:nvSpPr>
        <p:spPr>
          <a:xfrm flipH="1">
            <a:off x="864811" y="6206022"/>
            <a:ext cx="10224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ERONAUTICAL</a:t>
            </a:r>
            <a:r>
              <a:rPr lang="en-US" sz="2000" b="1" spc="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NGINEERING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EPARTMENT,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PCE</a:t>
            </a:r>
            <a:endParaRPr lang="en-IN" sz="2000" b="1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244A3C-75FE-B03A-16DB-F64F651E7B0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11237" y="6049926"/>
            <a:ext cx="961417" cy="6714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D56FFEF-53E8-1D1D-4EB9-D5EC45B4F141}"/>
              </a:ext>
            </a:extLst>
          </p:cNvPr>
          <p:cNvSpPr/>
          <p:nvPr/>
        </p:nvSpPr>
        <p:spPr>
          <a:xfrm>
            <a:off x="585216" y="732782"/>
            <a:ext cx="110215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sz="2000" dirty="0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DB655ABC-4C21-9033-FB27-49DC06CBDECA}"/>
              </a:ext>
            </a:extLst>
          </p:cNvPr>
          <p:cNvSpPr txBox="1"/>
          <p:nvPr/>
        </p:nvSpPr>
        <p:spPr>
          <a:xfrm>
            <a:off x="1036321" y="1380744"/>
            <a:ext cx="97170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Detection: A Literature Review Sayed Shifa Mohd Imran1,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Dr.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 Pallavi Devendra Tawde2 1Student, Department of MSc.IT,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Nagindas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Khandwala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 College, Mumbai, Maharashtra, India 2Assistant Professor,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Nagindas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Khandwala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 College, Mumbai, Maharashtra, India. </a:t>
            </a:r>
            <a:r>
              <a:rPr lang="en-IN" sz="1200" dirty="0">
                <a:latin typeface="Times New Roman" pitchFamily="18" charset="0"/>
                <a:cs typeface="Times New Roman" pitchFamily="18" charset="0"/>
                <a:hlinkClick r:id="rId3" action="ppaction://hlinkfile"/>
              </a:rPr>
              <a:t>Click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IN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Explainable Deepfake Detection Using Deep Learning by Shahzaib Khan DS-072/2020-21 Supervised by Dr.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Najeed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Ahmed Khan </a:t>
            </a:r>
            <a:r>
              <a:rPr lang="en-US" sz="1200" dirty="0">
                <a:latin typeface="Times New Roman" pitchFamily="18" charset="0"/>
                <a:cs typeface="Times New Roman" pitchFamily="18" charset="0"/>
                <a:hlinkClick r:id="rId4" action="ppaction://hlinkfile"/>
              </a:rPr>
              <a:t>click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Deep fake Detection using Deep Learning Prof. Aparna Bagde1 , Sakshi Fand2 , Kanchan Varma2 , Aditya Gawali2 Dept. of Computer Engineering Professor, Computer Engineering, NBNSTIC, Pune, Maharashtra, India Student, Computer Engineering, NBNSTIC, Pune, Maharashtra, India </a:t>
            </a:r>
            <a:r>
              <a:rPr lang="en-US" sz="1200" dirty="0">
                <a:latin typeface="Times New Roman" pitchFamily="18" charset="0"/>
                <a:cs typeface="Times New Roman" pitchFamily="18" charset="0"/>
                <a:hlinkClick r:id="rId5" action="ppaction://hlinkfile"/>
              </a:rPr>
              <a:t>click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A Survey on Attacks and Their Countermeasures in Deep Learning: Applications in Deep Neural Networks, Federated, Transfer, and Deep Reinforcement Learning </a:t>
            </a:r>
            <a:r>
              <a:rPr lang="en-US" sz="1200" dirty="0">
                <a:latin typeface="Times New Roman" pitchFamily="18" charset="0"/>
                <a:cs typeface="Times New Roman" pitchFamily="18" charset="0"/>
                <a:hlinkClick r:id="rId6" action="ppaction://hlinkfile"/>
              </a:rPr>
              <a:t>click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Deep Learning-Based Assessment Model for Real-Time Identification of Visual Learners Using Raw EEG </a:t>
            </a:r>
            <a:r>
              <a:rPr lang="en-US" sz="1200" dirty="0">
                <a:latin typeface="Times New Roman" pitchFamily="18" charset="0"/>
                <a:cs typeface="Times New Roman" pitchFamily="18" charset="0"/>
                <a:hlinkClick r:id="rId7" action="ppaction://hlinkfile"/>
              </a:rPr>
              <a:t>click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M.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Zoller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J.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Thies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P.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Garrido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D. Bradley, T. Beeler, P.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Prez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M.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Stamm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Inger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M.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Niner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and C.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Theobald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“State of the art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onmonocular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 3d face reconstruction, tracking, and applications,” Computer Graphics Forum, vol. 37, pp. 523–550, 2018.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J.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Thies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M.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Zoll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 Hofer, M.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Stamm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Inger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C.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Theobald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and M.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Neuner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“Face2face: Real-time face capture and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reenactment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ofgrub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 videos,” in Proceedings of the IEEE conference on computer vision and pattern recognition, 2016, pp. 2387–2395.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J.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Thies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M.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Solnhofen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and M.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Neuner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 “Deferred neural rendering: Image synthesis using neural textures,” ACM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Transactionson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 Graphics (TOG), vol. 38, no. 4, pp. 1–12, 2019.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Deepfakes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GitHub,https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github.com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deepfakes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faceswap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IN" sz="1200" dirty="0" err="1">
                <a:latin typeface="Times New Roman" pitchFamily="18" charset="0"/>
                <a:cs typeface="Times New Roman" pitchFamily="18" charset="0"/>
              </a:rPr>
              <a:t>Faceswap</a:t>
            </a:r>
            <a:r>
              <a:rPr lang="en-IN" sz="1200" dirty="0">
                <a:latin typeface="Times New Roman" pitchFamily="18" charset="0"/>
                <a:cs typeface="Times New Roman" pitchFamily="18" charset="0"/>
              </a:rPr>
              <a:t>,” https://github.com/MarekKowalski/FaceSwap/.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617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FD2EFF-E0D3-B44F-C334-404D88F2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0DA4763-92FE-08F5-EC28-BCE6AD0AA015}"/>
              </a:ext>
            </a:extLst>
          </p:cNvPr>
          <p:cNvGrpSpPr/>
          <p:nvPr/>
        </p:nvGrpSpPr>
        <p:grpSpPr>
          <a:xfrm>
            <a:off x="144000" y="117185"/>
            <a:ext cx="11933993" cy="6593151"/>
            <a:chOff x="144000" y="136090"/>
            <a:chExt cx="11933993" cy="6593151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FDA16E0-3753-09B2-7C01-2015D4AA6B76}"/>
                </a:ext>
              </a:extLst>
            </p:cNvPr>
            <p:cNvSpPr/>
            <p:nvPr/>
          </p:nvSpPr>
          <p:spPr>
            <a:xfrm>
              <a:off x="144000" y="136090"/>
              <a:ext cx="465600" cy="6570001"/>
            </a:xfrm>
            <a:custGeom>
              <a:avLst/>
              <a:gdLst>
                <a:gd name="connsiteX0" fmla="*/ 0 w 465600"/>
                <a:gd name="connsiteY0" fmla="*/ 0 h 6570001"/>
                <a:gd name="connsiteX1" fmla="*/ 465600 w 465600"/>
                <a:gd name="connsiteY1" fmla="*/ 0 h 6570001"/>
                <a:gd name="connsiteX2" fmla="*/ 465600 w 465600"/>
                <a:gd name="connsiteY2" fmla="*/ 6104399 h 6570001"/>
                <a:gd name="connsiteX3" fmla="*/ 465599 w 465600"/>
                <a:gd name="connsiteY3" fmla="*/ 6104399 h 6570001"/>
                <a:gd name="connsiteX4" fmla="*/ 1 w 465600"/>
                <a:gd name="connsiteY4" fmla="*/ 6570001 h 6570001"/>
                <a:gd name="connsiteX5" fmla="*/ 1 w 465600"/>
                <a:gd name="connsiteY5" fmla="*/ 6104399 h 6570001"/>
                <a:gd name="connsiteX6" fmla="*/ 0 w 465600"/>
                <a:gd name="connsiteY6" fmla="*/ 6104399 h 657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0" h="6570001">
                  <a:moveTo>
                    <a:pt x="0" y="0"/>
                  </a:moveTo>
                  <a:lnTo>
                    <a:pt x="465600" y="0"/>
                  </a:lnTo>
                  <a:lnTo>
                    <a:pt x="465600" y="6104399"/>
                  </a:lnTo>
                  <a:lnTo>
                    <a:pt x="465599" y="6104399"/>
                  </a:lnTo>
                  <a:lnTo>
                    <a:pt x="1" y="6570001"/>
                  </a:lnTo>
                  <a:lnTo>
                    <a:pt x="1" y="6104399"/>
                  </a:lnTo>
                  <a:lnTo>
                    <a:pt x="0" y="610439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85000">
                  <a:srgbClr val="F5F5F5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D47DB9E-C2F3-CE0C-5F75-C1252B11A85C}"/>
                </a:ext>
              </a:extLst>
            </p:cNvPr>
            <p:cNvSpPr/>
            <p:nvPr/>
          </p:nvSpPr>
          <p:spPr>
            <a:xfrm rot="16200000">
              <a:off x="5893191" y="544440"/>
              <a:ext cx="465603" cy="11904000"/>
            </a:xfrm>
            <a:custGeom>
              <a:avLst/>
              <a:gdLst>
                <a:gd name="connsiteX0" fmla="*/ 465601 w 465603"/>
                <a:gd name="connsiteY0" fmla="*/ 465600 h 11904000"/>
                <a:gd name="connsiteX1" fmla="*/ 465600 w 465603"/>
                <a:gd name="connsiteY1" fmla="*/ 11904000 h 11904000"/>
                <a:gd name="connsiteX2" fmla="*/ 0 w 465603"/>
                <a:gd name="connsiteY2" fmla="*/ 11904000 h 11904000"/>
                <a:gd name="connsiteX3" fmla="*/ 0 w 465603"/>
                <a:gd name="connsiteY3" fmla="*/ 465600 h 11904000"/>
                <a:gd name="connsiteX4" fmla="*/ 465603 w 465603"/>
                <a:gd name="connsiteY4" fmla="*/ 465599 h 11904000"/>
                <a:gd name="connsiteX5" fmla="*/ 1 w 465603"/>
                <a:gd name="connsiteY5" fmla="*/ 465599 h 11904000"/>
                <a:gd name="connsiteX6" fmla="*/ 1 w 465603"/>
                <a:gd name="connsiteY6" fmla="*/ 0 h 119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603" h="11904000">
                  <a:moveTo>
                    <a:pt x="465601" y="465600"/>
                  </a:moveTo>
                  <a:lnTo>
                    <a:pt x="465600" y="11904000"/>
                  </a:lnTo>
                  <a:lnTo>
                    <a:pt x="0" y="11904000"/>
                  </a:lnTo>
                  <a:lnTo>
                    <a:pt x="0" y="465600"/>
                  </a:lnTo>
                  <a:close/>
                  <a:moveTo>
                    <a:pt x="465603" y="465599"/>
                  </a:moveTo>
                  <a:lnTo>
                    <a:pt x="1" y="465599"/>
                  </a:lnTo>
                  <a:lnTo>
                    <a:pt x="1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2060"/>
                </a:gs>
                <a:gs pos="100000">
                  <a:srgbClr val="F5F5F5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2306D6D-9FD8-DD39-F79C-475F7CC6484F}"/>
              </a:ext>
            </a:extLst>
          </p:cNvPr>
          <p:cNvSpPr/>
          <p:nvPr/>
        </p:nvSpPr>
        <p:spPr>
          <a:xfrm rot="10800000">
            <a:off x="11612393" y="147664"/>
            <a:ext cx="465600" cy="6570001"/>
          </a:xfrm>
          <a:custGeom>
            <a:avLst/>
            <a:gdLst>
              <a:gd name="connsiteX0" fmla="*/ 0 w 465600"/>
              <a:gd name="connsiteY0" fmla="*/ 0 h 6570001"/>
              <a:gd name="connsiteX1" fmla="*/ 465600 w 465600"/>
              <a:gd name="connsiteY1" fmla="*/ 0 h 6570001"/>
              <a:gd name="connsiteX2" fmla="*/ 465600 w 465600"/>
              <a:gd name="connsiteY2" fmla="*/ 6104399 h 6570001"/>
              <a:gd name="connsiteX3" fmla="*/ 465599 w 465600"/>
              <a:gd name="connsiteY3" fmla="*/ 6104399 h 6570001"/>
              <a:gd name="connsiteX4" fmla="*/ 1 w 465600"/>
              <a:gd name="connsiteY4" fmla="*/ 6570001 h 6570001"/>
              <a:gd name="connsiteX5" fmla="*/ 1 w 465600"/>
              <a:gd name="connsiteY5" fmla="*/ 6104399 h 6570001"/>
              <a:gd name="connsiteX6" fmla="*/ 0 w 465600"/>
              <a:gd name="connsiteY6" fmla="*/ 6104399 h 657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0" h="6570001">
                <a:moveTo>
                  <a:pt x="0" y="0"/>
                </a:moveTo>
                <a:lnTo>
                  <a:pt x="465600" y="0"/>
                </a:lnTo>
                <a:lnTo>
                  <a:pt x="465600" y="6104399"/>
                </a:lnTo>
                <a:lnTo>
                  <a:pt x="465599" y="6104399"/>
                </a:lnTo>
                <a:lnTo>
                  <a:pt x="1" y="6570001"/>
                </a:lnTo>
                <a:lnTo>
                  <a:pt x="1" y="6104399"/>
                </a:lnTo>
                <a:lnTo>
                  <a:pt x="0" y="6104399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85000">
                <a:srgbClr val="F5F5F5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E59D2F5-2984-9D13-5CA5-5A9A2179CB0E}"/>
              </a:ext>
            </a:extLst>
          </p:cNvPr>
          <p:cNvSpPr/>
          <p:nvPr/>
        </p:nvSpPr>
        <p:spPr>
          <a:xfrm rot="5400000">
            <a:off x="5863199" y="-5594685"/>
            <a:ext cx="465603" cy="11904000"/>
          </a:xfrm>
          <a:custGeom>
            <a:avLst/>
            <a:gdLst>
              <a:gd name="connsiteX0" fmla="*/ 465601 w 465603"/>
              <a:gd name="connsiteY0" fmla="*/ 465600 h 11904000"/>
              <a:gd name="connsiteX1" fmla="*/ 465600 w 465603"/>
              <a:gd name="connsiteY1" fmla="*/ 11904000 h 11904000"/>
              <a:gd name="connsiteX2" fmla="*/ 0 w 465603"/>
              <a:gd name="connsiteY2" fmla="*/ 11904000 h 11904000"/>
              <a:gd name="connsiteX3" fmla="*/ 0 w 465603"/>
              <a:gd name="connsiteY3" fmla="*/ 465600 h 11904000"/>
              <a:gd name="connsiteX4" fmla="*/ 465603 w 465603"/>
              <a:gd name="connsiteY4" fmla="*/ 465599 h 11904000"/>
              <a:gd name="connsiteX5" fmla="*/ 1 w 465603"/>
              <a:gd name="connsiteY5" fmla="*/ 465599 h 11904000"/>
              <a:gd name="connsiteX6" fmla="*/ 1 w 465603"/>
              <a:gd name="connsiteY6" fmla="*/ 0 h 119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03" h="11904000">
                <a:moveTo>
                  <a:pt x="465601" y="465600"/>
                </a:moveTo>
                <a:lnTo>
                  <a:pt x="465600" y="11904000"/>
                </a:lnTo>
                <a:lnTo>
                  <a:pt x="0" y="11904000"/>
                </a:lnTo>
                <a:lnTo>
                  <a:pt x="0" y="465600"/>
                </a:lnTo>
                <a:close/>
                <a:moveTo>
                  <a:pt x="465603" y="465599"/>
                </a:moveTo>
                <a:lnTo>
                  <a:pt x="1" y="465599"/>
                </a:lnTo>
                <a:lnTo>
                  <a:pt x="1" y="0"/>
                </a:lnTo>
                <a:close/>
              </a:path>
            </a:pathLst>
          </a:custGeom>
          <a:gradFill flip="none" rotWithShape="1">
            <a:gsLst>
              <a:gs pos="0">
                <a:srgbClr val="002060"/>
              </a:gs>
              <a:gs pos="100000">
                <a:srgbClr val="F5F5F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C62AD5-57C1-A5F2-A411-CAC847CD3C76}"/>
              </a:ext>
            </a:extLst>
          </p:cNvPr>
          <p:cNvSpPr txBox="1"/>
          <p:nvPr/>
        </p:nvSpPr>
        <p:spPr>
          <a:xfrm>
            <a:off x="2857615" y="64927"/>
            <a:ext cx="6476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kern="1800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kern="1800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AIMANIKA </a:t>
            </a:r>
            <a:r>
              <a:rPr lang="en-US" sz="3200" kern="1800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kern="1800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EROFEST </a:t>
            </a:r>
            <a:r>
              <a:rPr lang="en-US" sz="3200" kern="1800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kern="1800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K25</a:t>
            </a:r>
            <a:endParaRPr lang="en-IN" sz="2000" kern="1800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F8426B-B6D0-6264-5B4F-762E91DBE6A4}"/>
              </a:ext>
            </a:extLst>
          </p:cNvPr>
          <p:cNvSpPr txBox="1"/>
          <p:nvPr/>
        </p:nvSpPr>
        <p:spPr>
          <a:xfrm flipH="1">
            <a:off x="864811" y="6206022"/>
            <a:ext cx="10235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spc="6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ERONAUTICAL</a:t>
            </a:r>
            <a:r>
              <a:rPr lang="en-US" sz="2000" b="1" spc="6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NGINEERING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EPARTMENT, </a:t>
            </a:r>
            <a:r>
              <a:rPr lang="en-US" sz="2800" b="1" spc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PCE</a:t>
            </a:r>
            <a:endParaRPr lang="en-IN" sz="2000" b="1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0F2E61-D577-8170-94F3-EFD4D3AFDBB1}"/>
              </a:ext>
            </a:extLst>
          </p:cNvPr>
          <p:cNvSpPr txBox="1"/>
          <p:nvPr/>
        </p:nvSpPr>
        <p:spPr>
          <a:xfrm>
            <a:off x="2407920" y="2767280"/>
            <a:ext cx="7376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20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1394</Words>
  <Application>Microsoft Office PowerPoint</Application>
  <PresentationFormat>Widescreen</PresentationFormat>
  <Paragraphs>214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Premnath Shahir</dc:creator>
  <cp:lastModifiedBy>Srushti Chindhalore</cp:lastModifiedBy>
  <cp:revision>17</cp:revision>
  <dcterms:created xsi:type="dcterms:W3CDTF">2025-01-27T15:23:29Z</dcterms:created>
  <dcterms:modified xsi:type="dcterms:W3CDTF">2025-03-20T01:09:24Z</dcterms:modified>
</cp:coreProperties>
</file>